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Lst>
  <p:sldSz cx="9144000" cy="5143500"/>
  <p:notesSz cx="51435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r>
              <a:rPr b="0" lang="en-US" sz="1800" strike="noStrike" u="none">
                <a:solidFill>
                  <a:schemeClr val="dk1"/>
                </a:solidFill>
                <a:effectLst/>
                <a:uFillTx/>
                <a:latin typeface="Calibri"/>
              </a:rPr>
              <a:t>Click to move the </a:t>
            </a:r>
            <a:r>
              <a:rPr b="0" lang="en-US" sz="1800" strike="noStrike" u="none">
                <a:solidFill>
                  <a:schemeClr val="dk1"/>
                </a:solidFill>
                <a:effectLst/>
                <a:uFillTx/>
                <a:latin typeface="Calibri"/>
              </a:rPr>
              <a:t>slide</a:t>
            </a:r>
            <a:endParaRPr b="0" lang="en-US" sz="1800" strike="noStrike" u="none">
              <a:solidFill>
                <a:schemeClr val="dk1"/>
              </a:solidFill>
              <a:effectLst/>
              <a:uFillTx/>
              <a:latin typeface="Calibri"/>
            </a:endParaRPr>
          </a:p>
        </p:txBody>
      </p:sp>
      <p:sp>
        <p:nvSpPr>
          <p:cNvPr id="3"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a:t>
            </a:r>
            <a:r>
              <a:rPr b="0" lang="en-US" sz="2000" strike="noStrike" u="none">
                <a:solidFill>
                  <a:srgbClr val="000000"/>
                </a:solidFill>
                <a:effectLst/>
                <a:uFillTx/>
                <a:latin typeface="Arial"/>
              </a:rPr>
              <a:t>notes format</a:t>
            </a:r>
            <a:endParaRPr b="0" lang="en-US" sz="2000" strike="noStrike" u="none">
              <a:solidFill>
                <a:srgbClr val="000000"/>
              </a:solidFill>
              <a:effectLst/>
              <a:uFillTx/>
              <a:latin typeface="Arial"/>
            </a:endParaRPr>
          </a:p>
        </p:txBody>
      </p:sp>
      <p:sp>
        <p:nvSpPr>
          <p:cNvPr id="4"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5"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6"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7"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EAAC2F7A-FEF1-41BF-A98F-24423EF2D437}"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PlaceHolder 1"/>
          <p:cNvSpPr>
            <a:spLocks noGrp="1"/>
          </p:cNvSpPr>
          <p:nvPr>
            <p:ph type="sldImg"/>
          </p:nvPr>
        </p:nvSpPr>
        <p:spPr>
          <a:xfrm>
            <a:off x="685800" y="1143000"/>
            <a:ext cx="5486040" cy="3085920"/>
          </a:xfrm>
          <a:prstGeom prst="rect">
            <a:avLst/>
          </a:prstGeom>
          <a:ln w="0">
            <a:noFill/>
          </a:ln>
        </p:spPr>
      </p:sp>
      <p:sp>
        <p:nvSpPr>
          <p:cNvPr id="19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SLIDE 1 (0:00-0:15) — Say: 'Hi everyone, I'm [name] and this is MoneyPlanner — a financial planning web app that gives individuals, households, and shop owners a complete picture of their finances in seconds.'</a:t>
            </a:r>
            <a:endParaRPr b="0" lang="en-US" sz="2000" strike="noStrike" u="none">
              <a:solidFill>
                <a:srgbClr val="000000"/>
              </a:solidFill>
              <a:effectLst/>
              <a:uFillTx/>
              <a:latin typeface="Arial"/>
            </a:endParaRPr>
          </a:p>
        </p:txBody>
      </p:sp>
      <p:sp>
        <p:nvSpPr>
          <p:cNvPr id="197"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73955DB0-06D4-430E-96EB-F4D9775E4E7D}"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 name="PlaceHolder 1"/>
          <p:cNvSpPr>
            <a:spLocks noGrp="1"/>
          </p:cNvSpPr>
          <p:nvPr>
            <p:ph type="sldImg"/>
          </p:nvPr>
        </p:nvSpPr>
        <p:spPr>
          <a:xfrm>
            <a:off x="685800" y="1143000"/>
            <a:ext cx="5486040" cy="3085920"/>
          </a:xfrm>
          <a:prstGeom prst="rect">
            <a:avLst/>
          </a:prstGeom>
          <a:ln w="0">
            <a:noFill/>
          </a:ln>
        </p:spPr>
      </p:sp>
      <p:sp>
        <p:nvSpPr>
          <p:cNvPr id="19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SLIDE 2 (0:15-0:40) — Say: 'The problem is simple — most people track their spending but never actually plan. Existing tools are complex, expensive, and built for Western markets. There's no clear picture of debt, savings gaps, or overall financial health. MoneyPlanner solves all three.'</a:t>
            </a:r>
            <a:endParaRPr b="0" lang="en-US" sz="2000" strike="noStrike" u="none">
              <a:solidFill>
                <a:srgbClr val="000000"/>
              </a:solidFill>
              <a:effectLst/>
              <a:uFillTx/>
              <a:latin typeface="Arial"/>
            </a:endParaRPr>
          </a:p>
        </p:txBody>
      </p:sp>
      <p:sp>
        <p:nvSpPr>
          <p:cNvPr id="200"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A047C667-F37E-4BBA-9C68-BB262384688A}"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1" name="PlaceHolder 1"/>
          <p:cNvSpPr>
            <a:spLocks noGrp="1"/>
          </p:cNvSpPr>
          <p:nvPr>
            <p:ph type="sldImg"/>
          </p:nvPr>
        </p:nvSpPr>
        <p:spPr>
          <a:xfrm>
            <a:off x="685800" y="1143000"/>
            <a:ext cx="5486040" cy="3085920"/>
          </a:xfrm>
          <a:prstGeom prst="rect">
            <a:avLst/>
          </a:prstGeom>
          <a:ln w="0">
            <a:noFill/>
          </a:ln>
        </p:spPr>
      </p:sp>
      <p:sp>
        <p:nvSpPr>
          <p:cNvPr id="20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SLIDE 3 (0:40-1:05) — Say: 'MoneyPlanner is a free Python and Streamlit web app — no login, no data stored anywhere. You choose your profile: Individual, Household, or Shop. Enter your numbers, click generate, and in seconds you have a full financial plan.'</a:t>
            </a:r>
            <a:endParaRPr b="0" lang="en-US" sz="2000" strike="noStrike" u="none">
              <a:solidFill>
                <a:srgbClr val="000000"/>
              </a:solidFill>
              <a:effectLst/>
              <a:uFillTx/>
              <a:latin typeface="Arial"/>
            </a:endParaRPr>
          </a:p>
        </p:txBody>
      </p:sp>
      <p:sp>
        <p:nvSpPr>
          <p:cNvPr id="203"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B9B56F68-7A90-407B-9AC7-7BCE7ABAB9C4}"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 name="PlaceHolder 1"/>
          <p:cNvSpPr>
            <a:spLocks noGrp="1"/>
          </p:cNvSpPr>
          <p:nvPr>
            <p:ph type="sldImg"/>
          </p:nvPr>
        </p:nvSpPr>
        <p:spPr>
          <a:xfrm>
            <a:off x="685800" y="1143000"/>
            <a:ext cx="5486040" cy="3085920"/>
          </a:xfrm>
          <a:prstGeom prst="rect">
            <a:avLst/>
          </a:prstGeom>
          <a:ln w="0">
            <a:noFill/>
          </a:ln>
        </p:spPr>
      </p:sp>
      <p:sp>
        <p:nvSpPr>
          <p:cNvPr id="20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SLIDE 4 (1:05-1:30) — Say: 'What does MoneyPlanner actually give you? A financial health score out of 100. Full loan amortization schedules. Investment growth projections. Goal timelines. Budget breakdowns. And plain-English recommendations. All calculated locally — no AI, just solid financial math.'</a:t>
            </a:r>
            <a:endParaRPr b="0" lang="en-US" sz="2000" strike="noStrike" u="none">
              <a:solidFill>
                <a:srgbClr val="000000"/>
              </a:solidFill>
              <a:effectLst/>
              <a:uFillTx/>
              <a:latin typeface="Arial"/>
            </a:endParaRPr>
          </a:p>
        </p:txBody>
      </p:sp>
      <p:sp>
        <p:nvSpPr>
          <p:cNvPr id="206"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45C71421-27B2-4384-9414-B8A425CFB884}"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PlaceHolder 1"/>
          <p:cNvSpPr>
            <a:spLocks noGrp="1"/>
          </p:cNvSpPr>
          <p:nvPr>
            <p:ph type="sldImg"/>
          </p:nvPr>
        </p:nvSpPr>
        <p:spPr>
          <a:xfrm>
            <a:off x="685800" y="1143000"/>
            <a:ext cx="5486040" cy="3085920"/>
          </a:xfrm>
          <a:prstGeom prst="rect">
            <a:avLst/>
          </a:prstGeom>
          <a:ln w="0">
            <a:noFill/>
          </a:ln>
        </p:spPr>
      </p:sp>
      <p:sp>
        <p:nvSpPr>
          <p:cNvPr id="20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SLIDE 5 (1:30-1:55) — Say: 'Using it is dead simple. Select your currency and profile type. Enter your financial details — income, loans, goals. Click generate. And instantly you have a full plan with charts, a health score, and recommendations. Everything runs in your browser — no data ever leaves your session.'</a:t>
            </a:r>
            <a:endParaRPr b="0" lang="en-US" sz="2000" strike="noStrike" u="none">
              <a:solidFill>
                <a:srgbClr val="000000"/>
              </a:solidFill>
              <a:effectLst/>
              <a:uFillTx/>
              <a:latin typeface="Arial"/>
            </a:endParaRPr>
          </a:p>
        </p:txBody>
      </p:sp>
      <p:sp>
        <p:nvSpPr>
          <p:cNvPr id="209"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7A075D74-DC9A-490D-ADCE-856209A1C3F1}"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PlaceHolder 1"/>
          <p:cNvSpPr>
            <a:spLocks noGrp="1"/>
          </p:cNvSpPr>
          <p:nvPr>
            <p:ph type="sldImg"/>
          </p:nvPr>
        </p:nvSpPr>
        <p:spPr>
          <a:xfrm>
            <a:off x="685800" y="1143000"/>
            <a:ext cx="5486040" cy="3085920"/>
          </a:xfrm>
          <a:prstGeom prst="rect">
            <a:avLst/>
          </a:prstGeom>
          <a:ln w="0">
            <a:noFill/>
          </a:ln>
        </p:spPr>
      </p:sp>
      <p:sp>
        <p:nvSpPr>
          <p:cNvPr id="21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SLIDE 6 (1:55-2:20) — Say: 'There's no AI black box. MoneyPlanner uses real financial formulas — the same EMI formula banks use, compound interest, debt-to-income ratios, and a four-component health scoring algorithm. Every number is explainable and auditable.'</a:t>
            </a:r>
            <a:endParaRPr b="0" lang="en-US" sz="2000" strike="noStrike" u="none">
              <a:solidFill>
                <a:srgbClr val="000000"/>
              </a:solidFill>
              <a:effectLst/>
              <a:uFillTx/>
              <a:latin typeface="Arial"/>
            </a:endParaRPr>
          </a:p>
        </p:txBody>
      </p:sp>
      <p:sp>
        <p:nvSpPr>
          <p:cNvPr id="212"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76B54B88-7799-4E54-AA7C-601E0B2340EB}"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PlaceHolder 1"/>
          <p:cNvSpPr>
            <a:spLocks noGrp="1"/>
          </p:cNvSpPr>
          <p:nvPr>
            <p:ph type="sldImg"/>
          </p:nvPr>
        </p:nvSpPr>
        <p:spPr>
          <a:xfrm>
            <a:off x="685800" y="1143000"/>
            <a:ext cx="5486040" cy="3085920"/>
          </a:xfrm>
          <a:prstGeom prst="rect">
            <a:avLst/>
          </a:prstGeom>
          <a:ln w="0">
            <a:noFill/>
          </a:ln>
        </p:spPr>
      </p:sp>
      <p:sp>
        <p:nvSpPr>
          <p:cNvPr id="21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SLIDE 7 (2:20-2:42) — Say: 'The stack is all Python — Streamlit for the UI, Plotly for charts, Pandas and NumPy for data. Deployed free on Streamlit Cloud. And because we're handling financial data, security was a priority — no database, no API calls, no login. Your data never leaves your browser.'</a:t>
            </a:r>
            <a:endParaRPr b="0" lang="en-US" sz="2000" strike="noStrike" u="none">
              <a:solidFill>
                <a:srgbClr val="000000"/>
              </a:solidFill>
              <a:effectLst/>
              <a:uFillTx/>
              <a:latin typeface="Arial"/>
            </a:endParaRPr>
          </a:p>
        </p:txBody>
      </p:sp>
      <p:sp>
        <p:nvSpPr>
          <p:cNvPr id="215"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4AA403A5-D984-4DBA-A5DB-95AA8A7C5C38}"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PlaceHolder 1"/>
          <p:cNvSpPr>
            <a:spLocks noGrp="1"/>
          </p:cNvSpPr>
          <p:nvPr>
            <p:ph type="sldImg"/>
          </p:nvPr>
        </p:nvSpPr>
        <p:spPr>
          <a:xfrm>
            <a:off x="685800" y="1143000"/>
            <a:ext cx="5486040" cy="3085920"/>
          </a:xfrm>
          <a:prstGeom prst="rect">
            <a:avLst/>
          </a:prstGeom>
          <a:ln w="0">
            <a:noFill/>
          </a:ln>
        </p:spPr>
      </p:sp>
      <p:sp>
        <p:nvSpPr>
          <p:cNvPr id="21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SLIDE 8 (2:42-3:00) — Say: 'MoneyPlanner is live — you can open it right now on any device. Three profile types, over ten interactive charts, completely free and private. Thank you — happy to take questions or give a live demo.'</a:t>
            </a:r>
            <a:endParaRPr b="0" lang="en-US" sz="2000" strike="noStrike" u="none">
              <a:solidFill>
                <a:srgbClr val="000000"/>
              </a:solidFill>
              <a:effectLst/>
              <a:uFillTx/>
              <a:latin typeface="Arial"/>
            </a:endParaRPr>
          </a:p>
        </p:txBody>
      </p:sp>
      <p:sp>
        <p:nvSpPr>
          <p:cNvPr id="218"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E33B476E-6AF2-4234-B5D5-E85CDDBD4667}"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r>
              <a:rPr b="0" lang="en-US" sz="1800" strike="noStrike" u="none">
                <a:solidFill>
                  <a:schemeClr val="dk1"/>
                </a:solidFill>
                <a:effectLst/>
                <a:uFillTx/>
                <a:latin typeface="Calibri"/>
              </a:rPr>
              <a:t>Click to edit the </a:t>
            </a:r>
            <a:r>
              <a:rPr b="0" lang="en-US" sz="1800" strike="noStrike" u="none">
                <a:solidFill>
                  <a:schemeClr val="dk1"/>
                </a:solidFill>
                <a:effectLst/>
                <a:uFillTx/>
                <a:latin typeface="Calibri"/>
              </a:rPr>
              <a:t>title text format</a:t>
            </a:r>
            <a:endParaRPr b="0" lang="en-US" sz="1800" strike="noStrike" u="none">
              <a:solidFill>
                <a:schemeClr val="dk1"/>
              </a:solidFill>
              <a:effectLst/>
              <a:uFillTx/>
              <a:latin typeface="Calibri"/>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Calibri"/>
              </a:rPr>
              <a:t>Second Outline Level</a:t>
            </a:r>
            <a:endParaRPr b="0" lang="en-US" sz="24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US" sz="20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US" sz="20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8" name="Shape 0"/>
          <p:cNvSpPr/>
          <p:nvPr/>
        </p:nvSpPr>
        <p:spPr>
          <a:xfrm>
            <a:off x="0" y="0"/>
            <a:ext cx="164160" cy="5143320"/>
          </a:xfrm>
          <a:prstGeom prst="rect">
            <a:avLst/>
          </a:prstGeom>
          <a:solidFill>
            <a:srgbClr val="27ae60"/>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 name="Shape 1"/>
          <p:cNvSpPr/>
          <p:nvPr/>
        </p:nvSpPr>
        <p:spPr>
          <a:xfrm>
            <a:off x="8979480" y="0"/>
            <a:ext cx="164160" cy="5143320"/>
          </a:xfrm>
          <a:prstGeom prst="rect">
            <a:avLst/>
          </a:prstGeom>
          <a:solidFill>
            <a:srgbClr val="f39c12"/>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0" name="Shape 2"/>
          <p:cNvSpPr/>
          <p:nvPr/>
        </p:nvSpPr>
        <p:spPr>
          <a:xfrm>
            <a:off x="3840480" y="502920"/>
            <a:ext cx="1371240" cy="1371240"/>
          </a:xfrm>
          <a:prstGeom prst="ellipse">
            <a:avLst/>
          </a:prstGeom>
          <a:solidFill>
            <a:srgbClr val="1f4e79"/>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1" name="Text 3"/>
          <p:cNvSpPr/>
          <p:nvPr/>
        </p:nvSpPr>
        <p:spPr>
          <a:xfrm>
            <a:off x="3840480" y="502920"/>
            <a:ext cx="1371240" cy="1371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4000" strike="noStrike" u="none">
                <a:solidFill>
                  <a:srgbClr val="000000"/>
                </a:solidFill>
                <a:effectLst/>
                <a:uFillTx/>
                <a:latin typeface="Calibri"/>
              </a:rPr>
              <a:t>💰</a:t>
            </a:r>
            <a:endParaRPr b="0" lang="en-US" sz="4000" strike="noStrike" u="none">
              <a:solidFill>
                <a:srgbClr val="ffffff"/>
              </a:solidFill>
              <a:effectLst/>
              <a:uFillTx/>
              <a:latin typeface="Arial"/>
            </a:endParaRPr>
          </a:p>
        </p:txBody>
      </p:sp>
      <p:sp>
        <p:nvSpPr>
          <p:cNvPr id="12" name="Text 4"/>
          <p:cNvSpPr/>
          <p:nvPr/>
        </p:nvSpPr>
        <p:spPr>
          <a:xfrm>
            <a:off x="457200" y="2011680"/>
            <a:ext cx="8229240" cy="360"/>
          </a:xfrm>
          <a:prstGeom prst="rect">
            <a:avLst/>
          </a:prstGeom>
          <a:noFill/>
          <a:ln w="0">
            <a:noFill/>
          </a:ln>
        </p:spPr>
        <p:style>
          <a:lnRef idx="0"/>
          <a:fillRef idx="0"/>
          <a:effectRef idx="0"/>
          <a:fontRef idx="minor"/>
        </p:style>
        <p:txBody>
          <a:bodyPr lIns="90000" rIns="90000" tIns="-44280" bIns="-44280" anchor="ctr">
            <a:noAutofit/>
          </a:bodyPr>
          <a:p>
            <a:pPr algn="ctr" defTabSz="914400">
              <a:lnSpc>
                <a:spcPct val="100000"/>
              </a:lnSpc>
              <a:tabLst>
                <a:tab algn="l" pos="0"/>
              </a:tabLst>
            </a:pPr>
            <a:r>
              <a:rPr b="1" lang="en-US" sz="5400" strike="noStrike" u="none">
                <a:solidFill>
                  <a:srgbClr val="ffffff"/>
                </a:solidFill>
                <a:effectLst/>
                <a:uFillTx/>
                <a:latin typeface="Calibri"/>
                <a:ea typeface="Calibri"/>
              </a:rPr>
              <a:t>MoneyPlanner</a:t>
            </a:r>
            <a:endParaRPr b="0" lang="en-US" sz="5400" strike="noStrike" u="none">
              <a:solidFill>
                <a:srgbClr val="ffffff"/>
              </a:solidFill>
              <a:effectLst/>
              <a:uFillTx/>
              <a:latin typeface="Arial"/>
            </a:endParaRPr>
          </a:p>
        </p:txBody>
      </p:sp>
      <p:sp>
        <p:nvSpPr>
          <p:cNvPr id="13" name="Text 5"/>
          <p:cNvSpPr/>
          <p:nvPr/>
        </p:nvSpPr>
        <p:spPr>
          <a:xfrm>
            <a:off x="457200" y="2880360"/>
            <a:ext cx="8229240" cy="360"/>
          </a:xfrm>
          <a:prstGeom prst="rect">
            <a:avLst/>
          </a:prstGeom>
          <a:noFill/>
          <a:ln w="0">
            <a:noFill/>
          </a:ln>
        </p:spPr>
        <p:style>
          <a:lnRef idx="0"/>
          <a:fillRef idx="0"/>
          <a:effectRef idx="0"/>
          <a:fontRef idx="minor"/>
        </p:style>
        <p:txBody>
          <a:bodyPr lIns="90000" rIns="90000" tIns="-44280" bIns="-44280" anchor="ctr">
            <a:noAutofit/>
          </a:bodyPr>
          <a:p>
            <a:pPr algn="ctr" defTabSz="914400">
              <a:lnSpc>
                <a:spcPct val="100000"/>
              </a:lnSpc>
              <a:tabLst>
                <a:tab algn="l" pos="0"/>
              </a:tabLst>
            </a:pPr>
            <a:r>
              <a:rPr b="0" i="1" lang="en-US" sz="2000" strike="noStrike" u="none">
                <a:solidFill>
                  <a:srgbClr val="f39c12"/>
                </a:solidFill>
                <a:effectLst/>
                <a:uFillTx/>
                <a:latin typeface="Calibri"/>
                <a:ea typeface="Calibri"/>
              </a:rPr>
              <a:t>Your Financial Future, Calculated Clearly.</a:t>
            </a:r>
            <a:endParaRPr b="0" lang="en-US" sz="2000" strike="noStrike" u="none">
              <a:solidFill>
                <a:srgbClr val="ffffff"/>
              </a:solidFill>
              <a:effectLst/>
              <a:uFillTx/>
              <a:latin typeface="Arial"/>
            </a:endParaRPr>
          </a:p>
        </p:txBody>
      </p:sp>
      <p:sp>
        <p:nvSpPr>
          <p:cNvPr id="14" name="Shape 6"/>
          <p:cNvSpPr/>
          <p:nvPr/>
        </p:nvSpPr>
        <p:spPr>
          <a:xfrm>
            <a:off x="2286000" y="3291840"/>
            <a:ext cx="4572000" cy="360"/>
          </a:xfrm>
          <a:prstGeom prst="line">
            <a:avLst/>
          </a:prstGeom>
          <a:ln w="19050">
            <a:solidFill>
              <a:srgbClr val="2e86ab"/>
            </a:solidFill>
            <a:round/>
          </a:ln>
        </p:spPr>
        <p:style>
          <a:lnRef idx="0"/>
          <a:fillRef idx="0"/>
          <a:effectRef idx="0"/>
          <a:fontRef idx="minor"/>
        </p:style>
        <p:txBody>
          <a:bodyPr lIns="90000" rIns="90000" tIns="-44640" bIns="-44640" anchor="t" anchorCtr="1">
            <a:noAutofit/>
          </a:bodyPr>
          <a:p>
            <a:endParaRPr b="0" lang="en-US" sz="1800" strike="noStrike" u="none">
              <a:solidFill>
                <a:srgbClr val="ffffff"/>
              </a:solidFill>
              <a:effectLst/>
              <a:uFillTx/>
              <a:latin typeface="Arial"/>
            </a:endParaRPr>
          </a:p>
        </p:txBody>
      </p:sp>
      <p:sp>
        <p:nvSpPr>
          <p:cNvPr id="15" name="Text 7"/>
          <p:cNvSpPr/>
          <p:nvPr/>
        </p:nvSpPr>
        <p:spPr>
          <a:xfrm>
            <a:off x="457200" y="3474720"/>
            <a:ext cx="8229240" cy="360"/>
          </a:xfrm>
          <a:prstGeom prst="rect">
            <a:avLst/>
          </a:prstGeom>
          <a:noFill/>
          <a:ln w="0">
            <a:noFill/>
          </a:ln>
        </p:spPr>
        <p:style>
          <a:lnRef idx="0"/>
          <a:fillRef idx="0"/>
          <a:effectRef idx="0"/>
          <a:fontRef idx="minor"/>
        </p:style>
        <p:txBody>
          <a:bodyPr lIns="90000" rIns="90000" tIns="-44280" bIns="-44280" anchor="ctr">
            <a:noAutofit/>
          </a:bodyPr>
          <a:p>
            <a:pPr algn="ctr" defTabSz="914400">
              <a:lnSpc>
                <a:spcPct val="100000"/>
              </a:lnSpc>
              <a:tabLst>
                <a:tab algn="l" pos="0"/>
              </a:tabLst>
            </a:pPr>
            <a:r>
              <a:rPr b="0" lang="en-US" sz="1300" strike="noStrike" u="none">
                <a:solidFill>
                  <a:srgbClr val="95a5a6"/>
                </a:solidFill>
                <a:effectLst/>
                <a:uFillTx/>
                <a:latin typeface="Calibri"/>
                <a:ea typeface="Calibri"/>
              </a:rPr>
              <a:t>Personal Financial Planning  •  Households  •  Small Businesses</a:t>
            </a:r>
            <a:endParaRPr b="0" lang="en-US" sz="13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f4f8"/>
        </a:solidFill>
      </p:bgPr>
    </p:bg>
    <p:spTree>
      <p:nvGrpSpPr>
        <p:cNvPr id="1" name=""/>
        <p:cNvGrpSpPr/>
        <p:nvPr/>
      </p:nvGrpSpPr>
      <p:grpSpPr>
        <a:xfrm>
          <a:off x="0" y="0"/>
          <a:ext cx="0" cy="0"/>
          <a:chOff x="0" y="0"/>
          <a:chExt cx="0" cy="0"/>
        </a:xfrm>
      </p:grpSpPr>
      <p:sp>
        <p:nvSpPr>
          <p:cNvPr id="16" name="Shape 0"/>
          <p:cNvSpPr/>
          <p:nvPr/>
        </p:nvSpPr>
        <p:spPr>
          <a:xfrm>
            <a:off x="457200" y="274320"/>
            <a:ext cx="1462680" cy="347040"/>
          </a:xfrm>
          <a:prstGeom prst="rect">
            <a:avLst/>
          </a:prstGeom>
          <a:solidFill>
            <a:srgbClr val="1f4e79"/>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7" name="Text 1"/>
          <p:cNvSpPr/>
          <p:nvPr/>
        </p:nvSpPr>
        <p:spPr>
          <a:xfrm>
            <a:off x="457200" y="274320"/>
            <a:ext cx="146268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trike="noStrike" u="none">
                <a:solidFill>
                  <a:srgbClr val="ffffff"/>
                </a:solidFill>
                <a:effectLst/>
                <a:uFillTx/>
                <a:latin typeface="Calibri"/>
              </a:rPr>
              <a:t>THE PROBLEM</a:t>
            </a:r>
            <a:endParaRPr b="0" lang="en-US" sz="1000" strike="noStrike" u="none">
              <a:solidFill>
                <a:srgbClr val="000000"/>
              </a:solidFill>
              <a:effectLst/>
              <a:uFillTx/>
              <a:latin typeface="Arial"/>
            </a:endParaRPr>
          </a:p>
        </p:txBody>
      </p:sp>
      <p:sp>
        <p:nvSpPr>
          <p:cNvPr id="18" name="Text 2"/>
          <p:cNvSpPr/>
          <p:nvPr/>
        </p:nvSpPr>
        <p:spPr>
          <a:xfrm>
            <a:off x="457200" y="731520"/>
            <a:ext cx="8229240" cy="360"/>
          </a:xfrm>
          <a:prstGeom prst="rect">
            <a:avLst/>
          </a:prstGeom>
          <a:noFill/>
          <a:ln w="0">
            <a:noFill/>
          </a:ln>
        </p:spPr>
        <p:style>
          <a:lnRef idx="0"/>
          <a:fillRef idx="0"/>
          <a:effectRef idx="0"/>
          <a:fontRef idx="minor"/>
        </p:style>
        <p:txBody>
          <a:bodyPr lIns="90000" rIns="90000" tIns="-44280" bIns="-44280" anchor="ctr">
            <a:noAutofit/>
          </a:bodyPr>
          <a:p>
            <a:pPr defTabSz="914400">
              <a:lnSpc>
                <a:spcPct val="100000"/>
              </a:lnSpc>
              <a:tabLst>
                <a:tab algn="l" pos="0"/>
              </a:tabLst>
            </a:pPr>
            <a:r>
              <a:rPr b="1" lang="en-US" sz="3200" strike="noStrike" u="none">
                <a:solidFill>
                  <a:srgbClr val="0d1b2a"/>
                </a:solidFill>
                <a:effectLst/>
                <a:uFillTx/>
                <a:latin typeface="Calibri"/>
                <a:ea typeface="Calibri"/>
              </a:rPr>
              <a:t>Most people have no financial plan.</a:t>
            </a:r>
            <a:endParaRPr b="0" lang="en-US" sz="3200" strike="noStrike" u="none">
              <a:solidFill>
                <a:srgbClr val="000000"/>
              </a:solidFill>
              <a:effectLst/>
              <a:uFillTx/>
              <a:latin typeface="Arial"/>
            </a:endParaRPr>
          </a:p>
        </p:txBody>
      </p:sp>
      <p:sp>
        <p:nvSpPr>
          <p:cNvPr id="19" name="Shape 3"/>
          <p:cNvSpPr/>
          <p:nvPr/>
        </p:nvSpPr>
        <p:spPr>
          <a:xfrm>
            <a:off x="457200" y="1508760"/>
            <a:ext cx="2651400" cy="2834280"/>
          </a:xfrm>
          <a:prstGeom prst="rect">
            <a:avLst/>
          </a:prstGeom>
          <a:solidFill>
            <a:srgbClr val="ffffff"/>
          </a:solidFill>
          <a:ln w="6350">
            <a:solidFill>
              <a:srgbClr val="e0e0e0"/>
            </a:solidFill>
            <a:round/>
          </a:ln>
          <a:effectLst>
            <a:outerShdw algn="bl" blurRad="101520" dir="8100000" dist="37674"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0" name="Shape 4"/>
          <p:cNvSpPr/>
          <p:nvPr/>
        </p:nvSpPr>
        <p:spPr>
          <a:xfrm>
            <a:off x="457200" y="1508760"/>
            <a:ext cx="63720" cy="2834280"/>
          </a:xfrm>
          <a:prstGeom prst="rect">
            <a:avLst/>
          </a:prstGeom>
          <a:solidFill>
            <a:srgbClr val="1f4e79"/>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1" name="Text 5"/>
          <p:cNvSpPr/>
          <p:nvPr/>
        </p:nvSpPr>
        <p:spPr>
          <a:xfrm>
            <a:off x="594360" y="1600200"/>
            <a:ext cx="2377080" cy="731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3000" strike="noStrike" u="none">
                <a:solidFill>
                  <a:srgbClr val="000000"/>
                </a:solidFill>
                <a:effectLst/>
                <a:uFillTx/>
                <a:latin typeface="Calibri"/>
              </a:rPr>
              <a:t>💸</a:t>
            </a:r>
            <a:endParaRPr b="0" lang="en-US" sz="3000" strike="noStrike" u="none">
              <a:solidFill>
                <a:srgbClr val="000000"/>
              </a:solidFill>
              <a:effectLst/>
              <a:uFillTx/>
              <a:latin typeface="Arial"/>
            </a:endParaRPr>
          </a:p>
        </p:txBody>
      </p:sp>
      <p:sp>
        <p:nvSpPr>
          <p:cNvPr id="22" name="Text 6"/>
          <p:cNvSpPr/>
          <p:nvPr/>
        </p:nvSpPr>
        <p:spPr>
          <a:xfrm>
            <a:off x="594360" y="2331720"/>
            <a:ext cx="2377080" cy="411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500" strike="noStrike" u="none">
                <a:solidFill>
                  <a:srgbClr val="0d1b2a"/>
                </a:solidFill>
                <a:effectLst/>
                <a:uFillTx/>
                <a:latin typeface="Calibri"/>
                <a:ea typeface="Calibri"/>
              </a:rPr>
              <a:t>No Guidance</a:t>
            </a:r>
            <a:endParaRPr b="0" lang="en-US" sz="1500" strike="noStrike" u="none">
              <a:solidFill>
                <a:srgbClr val="000000"/>
              </a:solidFill>
              <a:effectLst/>
              <a:uFillTx/>
              <a:latin typeface="Arial"/>
            </a:endParaRPr>
          </a:p>
        </p:txBody>
      </p:sp>
      <p:sp>
        <p:nvSpPr>
          <p:cNvPr id="23" name="Text 7"/>
          <p:cNvSpPr/>
          <p:nvPr/>
        </p:nvSpPr>
        <p:spPr>
          <a:xfrm>
            <a:off x="640080" y="2788920"/>
            <a:ext cx="2285640" cy="1371240"/>
          </a:xfrm>
          <a:prstGeom prst="rect">
            <a:avLst/>
          </a:prstGeom>
          <a:noFill/>
          <a:ln w="0">
            <a:noFill/>
          </a:ln>
        </p:spPr>
        <p:style>
          <a:lnRef idx="0"/>
          <a:fillRef idx="0"/>
          <a:effectRef idx="0"/>
          <a:fontRef idx="minor"/>
        </p:style>
        <p:txBody>
          <a:bodyPr lIns="90000" rIns="90000" tIns="45000" bIns="45000" anchor="t">
            <a:noAutofit/>
          </a:bodyPr>
          <a:p>
            <a:pPr algn="ctr" defTabSz="914400">
              <a:lnSpc>
                <a:spcPct val="100000"/>
              </a:lnSpc>
              <a:tabLst>
                <a:tab algn="l" pos="0"/>
              </a:tabLst>
            </a:pPr>
            <a:r>
              <a:rPr b="0" lang="en-US" sz="1200" strike="noStrike" u="none">
                <a:solidFill>
                  <a:srgbClr val="2c3e50"/>
                </a:solidFill>
                <a:effectLst/>
                <a:uFillTx/>
                <a:latin typeface="Calibri"/>
                <a:ea typeface="Calibri"/>
              </a:rPr>
              <a:t>People track spending but never plan for loans, goals, or investments.</a:t>
            </a:r>
            <a:endParaRPr b="0" lang="en-US" sz="1200" strike="noStrike" u="none">
              <a:solidFill>
                <a:srgbClr val="000000"/>
              </a:solidFill>
              <a:effectLst/>
              <a:uFillTx/>
              <a:latin typeface="Arial"/>
            </a:endParaRPr>
          </a:p>
        </p:txBody>
      </p:sp>
      <p:sp>
        <p:nvSpPr>
          <p:cNvPr id="24" name="Shape 8"/>
          <p:cNvSpPr/>
          <p:nvPr/>
        </p:nvSpPr>
        <p:spPr>
          <a:xfrm>
            <a:off x="3291840" y="1508760"/>
            <a:ext cx="2651400" cy="2834280"/>
          </a:xfrm>
          <a:prstGeom prst="rect">
            <a:avLst/>
          </a:prstGeom>
          <a:solidFill>
            <a:srgbClr val="ffffff"/>
          </a:solidFill>
          <a:ln w="6350">
            <a:solidFill>
              <a:srgbClr val="e0e0e0"/>
            </a:solidFill>
            <a:round/>
          </a:ln>
          <a:effectLst>
            <a:outerShdw algn="bl" blurRad="101520" dir="8100000" dist="37674"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5" name="Shape 9"/>
          <p:cNvSpPr/>
          <p:nvPr/>
        </p:nvSpPr>
        <p:spPr>
          <a:xfrm>
            <a:off x="3291840" y="1508760"/>
            <a:ext cx="63720" cy="2834280"/>
          </a:xfrm>
          <a:prstGeom prst="rect">
            <a:avLst/>
          </a:prstGeom>
          <a:solidFill>
            <a:srgbClr val="1f4e79"/>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6" name="Text 10"/>
          <p:cNvSpPr/>
          <p:nvPr/>
        </p:nvSpPr>
        <p:spPr>
          <a:xfrm>
            <a:off x="3429000" y="1600200"/>
            <a:ext cx="2377080" cy="731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3000" strike="noStrike" u="none">
                <a:solidFill>
                  <a:srgbClr val="000000"/>
                </a:solidFill>
                <a:effectLst/>
                <a:uFillTx/>
                <a:latin typeface="Calibri"/>
              </a:rPr>
              <a:t>🤯</a:t>
            </a:r>
            <a:endParaRPr b="0" lang="en-US" sz="3000" strike="noStrike" u="none">
              <a:solidFill>
                <a:srgbClr val="000000"/>
              </a:solidFill>
              <a:effectLst/>
              <a:uFillTx/>
              <a:latin typeface="Arial"/>
            </a:endParaRPr>
          </a:p>
        </p:txBody>
      </p:sp>
      <p:sp>
        <p:nvSpPr>
          <p:cNvPr id="27" name="Text 11"/>
          <p:cNvSpPr/>
          <p:nvPr/>
        </p:nvSpPr>
        <p:spPr>
          <a:xfrm>
            <a:off x="3429000" y="2331720"/>
            <a:ext cx="2377080" cy="411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500" strike="noStrike" u="none">
                <a:solidFill>
                  <a:srgbClr val="0d1b2a"/>
                </a:solidFill>
                <a:effectLst/>
                <a:uFillTx/>
                <a:latin typeface="Calibri"/>
                <a:ea typeface="Calibri"/>
              </a:rPr>
              <a:t>Too Complex</a:t>
            </a:r>
            <a:endParaRPr b="0" lang="en-US" sz="1500" strike="noStrike" u="none">
              <a:solidFill>
                <a:srgbClr val="000000"/>
              </a:solidFill>
              <a:effectLst/>
              <a:uFillTx/>
              <a:latin typeface="Arial"/>
            </a:endParaRPr>
          </a:p>
        </p:txBody>
      </p:sp>
      <p:sp>
        <p:nvSpPr>
          <p:cNvPr id="28" name="Text 12"/>
          <p:cNvSpPr/>
          <p:nvPr/>
        </p:nvSpPr>
        <p:spPr>
          <a:xfrm>
            <a:off x="3474720" y="2788920"/>
            <a:ext cx="2285640" cy="1371240"/>
          </a:xfrm>
          <a:prstGeom prst="rect">
            <a:avLst/>
          </a:prstGeom>
          <a:noFill/>
          <a:ln w="0">
            <a:noFill/>
          </a:ln>
        </p:spPr>
        <p:style>
          <a:lnRef idx="0"/>
          <a:fillRef idx="0"/>
          <a:effectRef idx="0"/>
          <a:fontRef idx="minor"/>
        </p:style>
        <p:txBody>
          <a:bodyPr lIns="90000" rIns="90000" tIns="45000" bIns="45000" anchor="t">
            <a:noAutofit/>
          </a:bodyPr>
          <a:p>
            <a:pPr algn="ctr" defTabSz="914400">
              <a:lnSpc>
                <a:spcPct val="100000"/>
              </a:lnSpc>
              <a:tabLst>
                <a:tab algn="l" pos="0"/>
              </a:tabLst>
            </a:pPr>
            <a:r>
              <a:rPr b="0" lang="en-US" sz="1200" strike="noStrike" u="none">
                <a:solidFill>
                  <a:srgbClr val="2c3e50"/>
                </a:solidFill>
                <a:effectLst/>
                <a:uFillTx/>
                <a:latin typeface="Calibri"/>
                <a:ea typeface="Calibri"/>
              </a:rPr>
              <a:t>Existing tools are built for the West — overwhelming and subscription-based.</a:t>
            </a:r>
            <a:endParaRPr b="0" lang="en-US" sz="1200" strike="noStrike" u="none">
              <a:solidFill>
                <a:srgbClr val="000000"/>
              </a:solidFill>
              <a:effectLst/>
              <a:uFillTx/>
              <a:latin typeface="Arial"/>
            </a:endParaRPr>
          </a:p>
        </p:txBody>
      </p:sp>
      <p:sp>
        <p:nvSpPr>
          <p:cNvPr id="29" name="Shape 13"/>
          <p:cNvSpPr/>
          <p:nvPr/>
        </p:nvSpPr>
        <p:spPr>
          <a:xfrm>
            <a:off x="6126480" y="1508760"/>
            <a:ext cx="2651400" cy="2834280"/>
          </a:xfrm>
          <a:prstGeom prst="rect">
            <a:avLst/>
          </a:prstGeom>
          <a:solidFill>
            <a:srgbClr val="ffffff"/>
          </a:solidFill>
          <a:ln w="6350">
            <a:solidFill>
              <a:srgbClr val="e0e0e0"/>
            </a:solidFill>
            <a:round/>
          </a:ln>
          <a:effectLst>
            <a:outerShdw algn="bl" blurRad="101520" dir="8100000" dist="37674"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0" name="Shape 14"/>
          <p:cNvSpPr/>
          <p:nvPr/>
        </p:nvSpPr>
        <p:spPr>
          <a:xfrm>
            <a:off x="6126480" y="1508760"/>
            <a:ext cx="63720" cy="2834280"/>
          </a:xfrm>
          <a:prstGeom prst="rect">
            <a:avLst/>
          </a:prstGeom>
          <a:solidFill>
            <a:srgbClr val="1f4e79"/>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1" name="Text 15"/>
          <p:cNvSpPr/>
          <p:nvPr/>
        </p:nvSpPr>
        <p:spPr>
          <a:xfrm>
            <a:off x="6263640" y="1600200"/>
            <a:ext cx="2377080" cy="731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3000" strike="noStrike" u="none">
                <a:solidFill>
                  <a:srgbClr val="000000"/>
                </a:solidFill>
                <a:effectLst/>
                <a:uFillTx/>
                <a:latin typeface="Calibri"/>
              </a:rPr>
              <a:t>🕳️</a:t>
            </a:r>
            <a:endParaRPr b="0" lang="en-US" sz="3000" strike="noStrike" u="none">
              <a:solidFill>
                <a:srgbClr val="000000"/>
              </a:solidFill>
              <a:effectLst/>
              <a:uFillTx/>
              <a:latin typeface="Arial"/>
            </a:endParaRPr>
          </a:p>
        </p:txBody>
      </p:sp>
      <p:sp>
        <p:nvSpPr>
          <p:cNvPr id="32" name="Text 16"/>
          <p:cNvSpPr/>
          <p:nvPr/>
        </p:nvSpPr>
        <p:spPr>
          <a:xfrm>
            <a:off x="6263640" y="2331720"/>
            <a:ext cx="2377080" cy="411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500" strike="noStrike" u="none">
                <a:solidFill>
                  <a:srgbClr val="0d1b2a"/>
                </a:solidFill>
                <a:effectLst/>
                <a:uFillTx/>
                <a:latin typeface="Calibri"/>
                <a:ea typeface="Calibri"/>
              </a:rPr>
              <a:t>No Visibility</a:t>
            </a:r>
            <a:endParaRPr b="0" lang="en-US" sz="1500" strike="noStrike" u="none">
              <a:solidFill>
                <a:srgbClr val="000000"/>
              </a:solidFill>
              <a:effectLst/>
              <a:uFillTx/>
              <a:latin typeface="Arial"/>
            </a:endParaRPr>
          </a:p>
        </p:txBody>
      </p:sp>
      <p:sp>
        <p:nvSpPr>
          <p:cNvPr id="33" name="Text 17"/>
          <p:cNvSpPr/>
          <p:nvPr/>
        </p:nvSpPr>
        <p:spPr>
          <a:xfrm>
            <a:off x="6309360" y="2788920"/>
            <a:ext cx="2285640" cy="1371240"/>
          </a:xfrm>
          <a:prstGeom prst="rect">
            <a:avLst/>
          </a:prstGeom>
          <a:noFill/>
          <a:ln w="0">
            <a:noFill/>
          </a:ln>
        </p:spPr>
        <p:style>
          <a:lnRef idx="0"/>
          <a:fillRef idx="0"/>
          <a:effectRef idx="0"/>
          <a:fontRef idx="minor"/>
        </p:style>
        <p:txBody>
          <a:bodyPr lIns="90000" rIns="90000" tIns="45000" bIns="45000" anchor="t">
            <a:noAutofit/>
          </a:bodyPr>
          <a:p>
            <a:pPr algn="ctr" defTabSz="914400">
              <a:lnSpc>
                <a:spcPct val="100000"/>
              </a:lnSpc>
              <a:tabLst>
                <a:tab algn="l" pos="0"/>
              </a:tabLst>
            </a:pPr>
            <a:r>
              <a:rPr b="0" lang="en-US" sz="1200" strike="noStrike" u="none">
                <a:solidFill>
                  <a:srgbClr val="2c3e50"/>
                </a:solidFill>
                <a:effectLst/>
                <a:uFillTx/>
                <a:latin typeface="Calibri"/>
                <a:ea typeface="Calibri"/>
              </a:rPr>
              <a:t>No clear picture of debt burden, savings gaps, or financial health.</a:t>
            </a:r>
            <a:endParaRPr b="0" lang="en-US" sz="1200" strike="noStrike" u="none">
              <a:solidFill>
                <a:srgbClr val="000000"/>
              </a:solidFill>
              <a:effectLst/>
              <a:uFillTx/>
              <a:latin typeface="Arial"/>
            </a:endParaRPr>
          </a:p>
        </p:txBody>
      </p:sp>
      <p:sp>
        <p:nvSpPr>
          <p:cNvPr id="34" name="Shape 18"/>
          <p:cNvSpPr/>
          <p:nvPr/>
        </p:nvSpPr>
        <p:spPr>
          <a:xfrm>
            <a:off x="457200" y="4526280"/>
            <a:ext cx="8229240" cy="411120"/>
          </a:xfrm>
          <a:prstGeom prst="rect">
            <a:avLst/>
          </a:prstGeom>
          <a:solidFill>
            <a:srgbClr val="0d1b2a"/>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5" name="Text 19"/>
          <p:cNvSpPr/>
          <p:nvPr/>
        </p:nvSpPr>
        <p:spPr>
          <a:xfrm>
            <a:off x="457200" y="4526280"/>
            <a:ext cx="822924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trike="noStrike" u="none">
                <a:solidFill>
                  <a:srgbClr val="f39c12"/>
                </a:solidFill>
                <a:effectLst/>
                <a:uFillTx/>
                <a:latin typeface="Calibri"/>
              </a:rPr>
              <a:t>84% of Pakistanis have no structured financial plan.  MoneyPlanner fixes that.</a:t>
            </a:r>
            <a:endParaRPr b="0" lang="en-US"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 name="Shape 0"/>
          <p:cNvSpPr/>
          <p:nvPr/>
        </p:nvSpPr>
        <p:spPr>
          <a:xfrm>
            <a:off x="0" y="0"/>
            <a:ext cx="3840120" cy="5143320"/>
          </a:xfrm>
          <a:prstGeom prst="rect">
            <a:avLst/>
          </a:prstGeom>
          <a:solidFill>
            <a:srgbClr val="1f4e79"/>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7" name="Text 1"/>
          <p:cNvSpPr/>
          <p:nvPr/>
        </p:nvSpPr>
        <p:spPr>
          <a:xfrm>
            <a:off x="274320" y="365760"/>
            <a:ext cx="3291480" cy="914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4800" strike="noStrike" u="none">
                <a:solidFill>
                  <a:srgbClr val="000000"/>
                </a:solidFill>
                <a:effectLst/>
                <a:uFillTx/>
                <a:latin typeface="Calibri"/>
              </a:rPr>
              <a:t>💰</a:t>
            </a:r>
            <a:endParaRPr b="0" lang="en-US" sz="4800" strike="noStrike" u="none">
              <a:solidFill>
                <a:srgbClr val="000000"/>
              </a:solidFill>
              <a:effectLst/>
              <a:uFillTx/>
              <a:latin typeface="Arial"/>
            </a:endParaRPr>
          </a:p>
        </p:txBody>
      </p:sp>
      <p:sp>
        <p:nvSpPr>
          <p:cNvPr id="38" name="Text 2"/>
          <p:cNvSpPr/>
          <p:nvPr/>
        </p:nvSpPr>
        <p:spPr>
          <a:xfrm>
            <a:off x="274320" y="1280160"/>
            <a:ext cx="3291480" cy="5482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200" strike="noStrike" u="none">
                <a:solidFill>
                  <a:srgbClr val="ffffff"/>
                </a:solidFill>
                <a:effectLst/>
                <a:uFillTx/>
                <a:latin typeface="Calibri"/>
                <a:ea typeface="Calibri"/>
              </a:rPr>
              <a:t>MoneyPlanner</a:t>
            </a:r>
            <a:endParaRPr b="0" lang="en-US" sz="2200" strike="noStrike" u="none">
              <a:solidFill>
                <a:srgbClr val="000000"/>
              </a:solidFill>
              <a:effectLst/>
              <a:uFillTx/>
              <a:latin typeface="Arial"/>
            </a:endParaRPr>
          </a:p>
        </p:txBody>
      </p:sp>
      <p:sp>
        <p:nvSpPr>
          <p:cNvPr id="39" name="Text 3"/>
          <p:cNvSpPr/>
          <p:nvPr/>
        </p:nvSpPr>
        <p:spPr>
          <a:xfrm>
            <a:off x="274320" y="1920240"/>
            <a:ext cx="3291480" cy="18284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400" strike="noStrike" u="none">
                <a:solidFill>
                  <a:srgbClr val="bdc3c7"/>
                </a:solidFill>
                <a:effectLst/>
                <a:uFillTx/>
                <a:latin typeface="Calibri"/>
                <a:ea typeface="Calibri"/>
              </a:rPr>
              <a:t>A free, privacy-first web</a:t>
            </a:r>
            <a:endParaRPr b="0" lang="en-US" sz="1400" strike="noStrike" u="none">
              <a:solidFill>
                <a:srgbClr val="000000"/>
              </a:solidFill>
              <a:effectLst/>
              <a:uFillTx/>
              <a:latin typeface="Arial"/>
            </a:endParaRPr>
          </a:p>
          <a:p>
            <a:pPr algn="ctr" defTabSz="914400">
              <a:lnSpc>
                <a:spcPct val="100000"/>
              </a:lnSpc>
              <a:tabLst>
                <a:tab algn="l" pos="0"/>
              </a:tabLst>
            </a:pPr>
            <a:r>
              <a:rPr b="0" lang="en-US" sz="1400" strike="noStrike" u="none">
                <a:solidFill>
                  <a:srgbClr val="bdc3c7"/>
                </a:solidFill>
                <a:effectLst/>
                <a:uFillTx/>
                <a:latin typeface="Calibri"/>
                <a:ea typeface="Calibri"/>
              </a:rPr>
              <a:t>app that turns raw numbers</a:t>
            </a:r>
            <a:endParaRPr b="0" lang="en-US" sz="1400" strike="noStrike" u="none">
              <a:solidFill>
                <a:srgbClr val="000000"/>
              </a:solidFill>
              <a:effectLst/>
              <a:uFillTx/>
              <a:latin typeface="Arial"/>
            </a:endParaRPr>
          </a:p>
          <a:p>
            <a:pPr algn="ctr" defTabSz="914400">
              <a:lnSpc>
                <a:spcPct val="100000"/>
              </a:lnSpc>
              <a:tabLst>
                <a:tab algn="l" pos="0"/>
              </a:tabLst>
            </a:pPr>
            <a:r>
              <a:rPr b="0" lang="en-US" sz="1400" strike="noStrike" u="none">
                <a:solidFill>
                  <a:srgbClr val="bdc3c7"/>
                </a:solidFill>
                <a:effectLst/>
                <a:uFillTx/>
                <a:latin typeface="Calibri"/>
                <a:ea typeface="Calibri"/>
              </a:rPr>
              <a:t>into a structured financial</a:t>
            </a:r>
            <a:endParaRPr b="0" lang="en-US" sz="1400" strike="noStrike" u="none">
              <a:solidFill>
                <a:srgbClr val="000000"/>
              </a:solidFill>
              <a:effectLst/>
              <a:uFillTx/>
              <a:latin typeface="Arial"/>
            </a:endParaRPr>
          </a:p>
          <a:p>
            <a:pPr algn="ctr" defTabSz="914400">
              <a:lnSpc>
                <a:spcPct val="100000"/>
              </a:lnSpc>
              <a:tabLst>
                <a:tab algn="l" pos="0"/>
              </a:tabLst>
            </a:pPr>
            <a:r>
              <a:rPr b="0" lang="en-US" sz="1400" strike="noStrike" u="none">
                <a:solidFill>
                  <a:srgbClr val="bdc3c7"/>
                </a:solidFill>
                <a:effectLst/>
                <a:uFillTx/>
                <a:latin typeface="Calibri"/>
                <a:ea typeface="Calibri"/>
              </a:rPr>
              <a:t>plan — instantly.</a:t>
            </a:r>
            <a:endParaRPr b="0" lang="en-US" sz="1400" strike="noStrike" u="none">
              <a:solidFill>
                <a:srgbClr val="000000"/>
              </a:solidFill>
              <a:effectLst/>
              <a:uFillTx/>
              <a:latin typeface="Arial"/>
            </a:endParaRPr>
          </a:p>
        </p:txBody>
      </p:sp>
      <p:sp>
        <p:nvSpPr>
          <p:cNvPr id="40" name="Shape 4"/>
          <p:cNvSpPr/>
          <p:nvPr/>
        </p:nvSpPr>
        <p:spPr>
          <a:xfrm>
            <a:off x="731520" y="3840480"/>
            <a:ext cx="2377080" cy="502560"/>
          </a:xfrm>
          <a:prstGeom prst="rect">
            <a:avLst/>
          </a:prstGeom>
          <a:solidFill>
            <a:srgbClr val="27ae60"/>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1" name="Text 5"/>
          <p:cNvSpPr/>
          <p:nvPr/>
        </p:nvSpPr>
        <p:spPr>
          <a:xfrm>
            <a:off x="731520" y="3840480"/>
            <a:ext cx="237708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trike="noStrike" u="none">
                <a:solidFill>
                  <a:srgbClr val="ffffff"/>
                </a:solidFill>
                <a:effectLst/>
                <a:uFillTx/>
                <a:latin typeface="Calibri"/>
              </a:rPr>
              <a:t>100% Free  •  No Login</a:t>
            </a:r>
            <a:endParaRPr b="0" lang="en-US" sz="1200" strike="noStrike" u="none">
              <a:solidFill>
                <a:srgbClr val="000000"/>
              </a:solidFill>
              <a:effectLst/>
              <a:uFillTx/>
              <a:latin typeface="Arial"/>
            </a:endParaRPr>
          </a:p>
        </p:txBody>
      </p:sp>
      <p:sp>
        <p:nvSpPr>
          <p:cNvPr id="42" name="Text 6"/>
          <p:cNvSpPr/>
          <p:nvPr/>
        </p:nvSpPr>
        <p:spPr>
          <a:xfrm>
            <a:off x="4114800" y="274320"/>
            <a:ext cx="4754520" cy="502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400" strike="noStrike" u="none">
                <a:solidFill>
                  <a:srgbClr val="0d1b2a"/>
                </a:solidFill>
                <a:effectLst/>
                <a:uFillTx/>
                <a:latin typeface="Calibri"/>
                <a:ea typeface="Calibri"/>
              </a:rPr>
              <a:t>Three Profiles. One Tool.</a:t>
            </a:r>
            <a:endParaRPr b="0" lang="en-US" sz="2400" strike="noStrike" u="none">
              <a:solidFill>
                <a:srgbClr val="000000"/>
              </a:solidFill>
              <a:effectLst/>
              <a:uFillTx/>
              <a:latin typeface="Arial"/>
            </a:endParaRPr>
          </a:p>
        </p:txBody>
      </p:sp>
      <p:sp>
        <p:nvSpPr>
          <p:cNvPr id="43" name="Shape 7"/>
          <p:cNvSpPr/>
          <p:nvPr/>
        </p:nvSpPr>
        <p:spPr>
          <a:xfrm>
            <a:off x="4114800" y="960120"/>
            <a:ext cx="4663080" cy="1142640"/>
          </a:xfrm>
          <a:prstGeom prst="rect">
            <a:avLst/>
          </a:prstGeom>
          <a:solidFill>
            <a:srgbClr val="ffffff"/>
          </a:solidFill>
          <a:ln w="6350">
            <a:solidFill>
              <a:srgbClr val="e0e0e0"/>
            </a:solidFill>
            <a:round/>
          </a:ln>
          <a:effectLst>
            <a:outerShdw algn="bl" blurRad="101520" dir="8100000" dist="37674"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4" name="Shape 8"/>
          <p:cNvSpPr/>
          <p:nvPr/>
        </p:nvSpPr>
        <p:spPr>
          <a:xfrm>
            <a:off x="4114800" y="960120"/>
            <a:ext cx="63720" cy="1142640"/>
          </a:xfrm>
          <a:prstGeom prst="rect">
            <a:avLst/>
          </a:prstGeom>
          <a:solidFill>
            <a:srgbClr val="2e86ab"/>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5" name="Text 9"/>
          <p:cNvSpPr/>
          <p:nvPr/>
        </p:nvSpPr>
        <p:spPr>
          <a:xfrm>
            <a:off x="4251960" y="1143000"/>
            <a:ext cx="639720" cy="6397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2600" strike="noStrike" u="none">
                <a:solidFill>
                  <a:srgbClr val="000000"/>
                </a:solidFill>
                <a:effectLst/>
                <a:uFillTx/>
                <a:latin typeface="Calibri"/>
              </a:rPr>
              <a:t>👤</a:t>
            </a:r>
            <a:endParaRPr b="0" lang="en-US" sz="2600" strike="noStrike" u="none">
              <a:solidFill>
                <a:srgbClr val="000000"/>
              </a:solidFill>
              <a:effectLst/>
              <a:uFillTx/>
              <a:latin typeface="Arial"/>
            </a:endParaRPr>
          </a:p>
        </p:txBody>
      </p:sp>
      <p:sp>
        <p:nvSpPr>
          <p:cNvPr id="46" name="Text 10"/>
          <p:cNvSpPr/>
          <p:nvPr/>
        </p:nvSpPr>
        <p:spPr>
          <a:xfrm>
            <a:off x="4983480" y="1124640"/>
            <a:ext cx="3565800" cy="347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600" strike="noStrike" u="none">
                <a:solidFill>
                  <a:srgbClr val="0d1b2a"/>
                </a:solidFill>
                <a:effectLst/>
                <a:uFillTx/>
                <a:latin typeface="Calibri"/>
                <a:ea typeface="Calibri"/>
              </a:rPr>
              <a:t>Individual</a:t>
            </a:r>
            <a:endParaRPr b="0" lang="en-US" sz="1600" strike="noStrike" u="none">
              <a:solidFill>
                <a:srgbClr val="000000"/>
              </a:solidFill>
              <a:effectLst/>
              <a:uFillTx/>
              <a:latin typeface="Arial"/>
            </a:endParaRPr>
          </a:p>
        </p:txBody>
      </p:sp>
      <p:sp>
        <p:nvSpPr>
          <p:cNvPr id="47" name="Text 11"/>
          <p:cNvSpPr/>
          <p:nvPr/>
        </p:nvSpPr>
        <p:spPr>
          <a:xfrm>
            <a:off x="4983480" y="1481400"/>
            <a:ext cx="3565800" cy="45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200" strike="noStrike" u="none">
                <a:solidFill>
                  <a:srgbClr val="7f8c8d"/>
                </a:solidFill>
                <a:effectLst/>
                <a:uFillTx/>
                <a:latin typeface="Calibri"/>
                <a:ea typeface="Calibri"/>
              </a:rPr>
              <a:t>Personal salary, loans, savings goals &amp; investments</a:t>
            </a:r>
            <a:endParaRPr b="0" lang="en-US" sz="1200" strike="noStrike" u="none">
              <a:solidFill>
                <a:srgbClr val="000000"/>
              </a:solidFill>
              <a:effectLst/>
              <a:uFillTx/>
              <a:latin typeface="Arial"/>
            </a:endParaRPr>
          </a:p>
        </p:txBody>
      </p:sp>
      <p:sp>
        <p:nvSpPr>
          <p:cNvPr id="48" name="Shape 12"/>
          <p:cNvSpPr/>
          <p:nvPr/>
        </p:nvSpPr>
        <p:spPr>
          <a:xfrm>
            <a:off x="4114800" y="2286000"/>
            <a:ext cx="4663080" cy="1142640"/>
          </a:xfrm>
          <a:prstGeom prst="rect">
            <a:avLst/>
          </a:prstGeom>
          <a:solidFill>
            <a:srgbClr val="ffffff"/>
          </a:solidFill>
          <a:ln w="6350">
            <a:solidFill>
              <a:srgbClr val="e0e0e0"/>
            </a:solidFill>
            <a:round/>
          </a:ln>
          <a:effectLst>
            <a:outerShdw algn="bl" blurRad="101520" dir="8100000" dist="37674"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9" name="Shape 13"/>
          <p:cNvSpPr/>
          <p:nvPr/>
        </p:nvSpPr>
        <p:spPr>
          <a:xfrm>
            <a:off x="4114800" y="2286000"/>
            <a:ext cx="63720" cy="1142640"/>
          </a:xfrm>
          <a:prstGeom prst="rect">
            <a:avLst/>
          </a:prstGeom>
          <a:solidFill>
            <a:srgbClr val="27ae60"/>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0" name="Text 14"/>
          <p:cNvSpPr/>
          <p:nvPr/>
        </p:nvSpPr>
        <p:spPr>
          <a:xfrm>
            <a:off x="4251960" y="2468880"/>
            <a:ext cx="639720" cy="6397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2600" strike="noStrike" u="none">
                <a:solidFill>
                  <a:srgbClr val="000000"/>
                </a:solidFill>
                <a:effectLst/>
                <a:uFillTx/>
                <a:latin typeface="Calibri"/>
              </a:rPr>
              <a:t>👨‍👩‍👧</a:t>
            </a:r>
            <a:endParaRPr b="0" lang="en-US" sz="2600" strike="noStrike" u="none">
              <a:solidFill>
                <a:srgbClr val="000000"/>
              </a:solidFill>
              <a:effectLst/>
              <a:uFillTx/>
              <a:latin typeface="Arial"/>
            </a:endParaRPr>
          </a:p>
        </p:txBody>
      </p:sp>
      <p:sp>
        <p:nvSpPr>
          <p:cNvPr id="51" name="Text 15"/>
          <p:cNvSpPr/>
          <p:nvPr/>
        </p:nvSpPr>
        <p:spPr>
          <a:xfrm>
            <a:off x="4983480" y="2450520"/>
            <a:ext cx="3565800" cy="347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600" strike="noStrike" u="none">
                <a:solidFill>
                  <a:srgbClr val="0d1b2a"/>
                </a:solidFill>
                <a:effectLst/>
                <a:uFillTx/>
                <a:latin typeface="Calibri"/>
                <a:ea typeface="Calibri"/>
              </a:rPr>
              <a:t>Household</a:t>
            </a:r>
            <a:endParaRPr b="0" lang="en-US" sz="1600" strike="noStrike" u="none">
              <a:solidFill>
                <a:srgbClr val="000000"/>
              </a:solidFill>
              <a:effectLst/>
              <a:uFillTx/>
              <a:latin typeface="Arial"/>
            </a:endParaRPr>
          </a:p>
        </p:txBody>
      </p:sp>
      <p:sp>
        <p:nvSpPr>
          <p:cNvPr id="52" name="Text 16"/>
          <p:cNvSpPr/>
          <p:nvPr/>
        </p:nvSpPr>
        <p:spPr>
          <a:xfrm>
            <a:off x="4983480" y="2807280"/>
            <a:ext cx="3565800" cy="45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200" strike="noStrike" u="none">
                <a:solidFill>
                  <a:srgbClr val="7f8c8d"/>
                </a:solidFill>
                <a:effectLst/>
                <a:uFillTx/>
                <a:latin typeface="Calibri"/>
                <a:ea typeface="Calibri"/>
              </a:rPr>
              <a:t>Multiple earners, combined income &amp; family goals</a:t>
            </a:r>
            <a:endParaRPr b="0" lang="en-US" sz="1200" strike="noStrike" u="none">
              <a:solidFill>
                <a:srgbClr val="000000"/>
              </a:solidFill>
              <a:effectLst/>
              <a:uFillTx/>
              <a:latin typeface="Arial"/>
            </a:endParaRPr>
          </a:p>
        </p:txBody>
      </p:sp>
      <p:sp>
        <p:nvSpPr>
          <p:cNvPr id="53" name="Shape 17"/>
          <p:cNvSpPr/>
          <p:nvPr/>
        </p:nvSpPr>
        <p:spPr>
          <a:xfrm>
            <a:off x="4114800" y="3611880"/>
            <a:ext cx="4663080" cy="1142640"/>
          </a:xfrm>
          <a:prstGeom prst="rect">
            <a:avLst/>
          </a:prstGeom>
          <a:solidFill>
            <a:srgbClr val="ffffff"/>
          </a:solidFill>
          <a:ln w="6350">
            <a:solidFill>
              <a:srgbClr val="e0e0e0"/>
            </a:solidFill>
            <a:round/>
          </a:ln>
          <a:effectLst>
            <a:outerShdw algn="bl" blurRad="101520" dir="8100000" dist="37674"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4" name="Shape 18"/>
          <p:cNvSpPr/>
          <p:nvPr/>
        </p:nvSpPr>
        <p:spPr>
          <a:xfrm>
            <a:off x="4114800" y="3611880"/>
            <a:ext cx="63720" cy="1142640"/>
          </a:xfrm>
          <a:prstGeom prst="rect">
            <a:avLst/>
          </a:prstGeom>
          <a:solidFill>
            <a:srgbClr val="f39c12"/>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5" name="Text 19"/>
          <p:cNvSpPr/>
          <p:nvPr/>
        </p:nvSpPr>
        <p:spPr>
          <a:xfrm>
            <a:off x="4251960" y="3794760"/>
            <a:ext cx="639720" cy="6397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2600" strike="noStrike" u="none">
                <a:solidFill>
                  <a:srgbClr val="000000"/>
                </a:solidFill>
                <a:effectLst/>
                <a:uFillTx/>
                <a:latin typeface="Calibri"/>
              </a:rPr>
              <a:t>🏪</a:t>
            </a:r>
            <a:endParaRPr b="0" lang="en-US" sz="2600" strike="noStrike" u="none">
              <a:solidFill>
                <a:srgbClr val="000000"/>
              </a:solidFill>
              <a:effectLst/>
              <a:uFillTx/>
              <a:latin typeface="Arial"/>
            </a:endParaRPr>
          </a:p>
        </p:txBody>
      </p:sp>
      <p:sp>
        <p:nvSpPr>
          <p:cNvPr id="56" name="Text 20"/>
          <p:cNvSpPr/>
          <p:nvPr/>
        </p:nvSpPr>
        <p:spPr>
          <a:xfrm>
            <a:off x="4983480" y="3776400"/>
            <a:ext cx="3565800" cy="347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600" strike="noStrike" u="none">
                <a:solidFill>
                  <a:srgbClr val="0d1b2a"/>
                </a:solidFill>
                <a:effectLst/>
                <a:uFillTx/>
                <a:latin typeface="Calibri"/>
                <a:ea typeface="Calibri"/>
              </a:rPr>
              <a:t>Shop</a:t>
            </a:r>
            <a:endParaRPr b="0" lang="en-US" sz="1600" strike="noStrike" u="none">
              <a:solidFill>
                <a:srgbClr val="000000"/>
              </a:solidFill>
              <a:effectLst/>
              <a:uFillTx/>
              <a:latin typeface="Arial"/>
            </a:endParaRPr>
          </a:p>
        </p:txBody>
      </p:sp>
      <p:sp>
        <p:nvSpPr>
          <p:cNvPr id="57" name="Text 21"/>
          <p:cNvSpPr/>
          <p:nvPr/>
        </p:nvSpPr>
        <p:spPr>
          <a:xfrm>
            <a:off x="4983480" y="4133160"/>
            <a:ext cx="3565800" cy="45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200" strike="noStrike" u="none">
                <a:solidFill>
                  <a:srgbClr val="7f8c8d"/>
                </a:solidFill>
                <a:effectLst/>
                <a:uFillTx/>
                <a:latin typeface="Calibri"/>
                <a:ea typeface="Calibri"/>
              </a:rPr>
              <a:t>Revenue, COGS, profit margins &amp; business planning</a:t>
            </a:r>
            <a:endParaRPr b="0" lang="en-US"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f4f8"/>
        </a:solidFill>
      </p:bgPr>
    </p:bg>
    <p:spTree>
      <p:nvGrpSpPr>
        <p:cNvPr id="1" name=""/>
        <p:cNvGrpSpPr/>
        <p:nvPr/>
      </p:nvGrpSpPr>
      <p:grpSpPr>
        <a:xfrm>
          <a:off x="0" y="0"/>
          <a:ext cx="0" cy="0"/>
          <a:chOff x="0" y="0"/>
          <a:chExt cx="0" cy="0"/>
        </a:xfrm>
      </p:grpSpPr>
      <p:sp>
        <p:nvSpPr>
          <p:cNvPr id="58" name="Shape 0"/>
          <p:cNvSpPr/>
          <p:nvPr/>
        </p:nvSpPr>
        <p:spPr>
          <a:xfrm>
            <a:off x="457200" y="274320"/>
            <a:ext cx="1645560" cy="347040"/>
          </a:xfrm>
          <a:prstGeom prst="rect">
            <a:avLst/>
          </a:prstGeom>
          <a:solidFill>
            <a:srgbClr val="27ae60"/>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9" name="Text 1"/>
          <p:cNvSpPr/>
          <p:nvPr/>
        </p:nvSpPr>
        <p:spPr>
          <a:xfrm>
            <a:off x="457200" y="274320"/>
            <a:ext cx="164556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trike="noStrike" u="none">
                <a:solidFill>
                  <a:srgbClr val="ffffff"/>
                </a:solidFill>
                <a:effectLst/>
                <a:uFillTx/>
                <a:latin typeface="Calibri"/>
              </a:rPr>
              <a:t>WHAT YOU GET</a:t>
            </a:r>
            <a:endParaRPr b="0" lang="en-US" sz="1000" strike="noStrike" u="none">
              <a:solidFill>
                <a:srgbClr val="000000"/>
              </a:solidFill>
              <a:effectLst/>
              <a:uFillTx/>
              <a:latin typeface="Arial"/>
            </a:endParaRPr>
          </a:p>
        </p:txBody>
      </p:sp>
      <p:sp>
        <p:nvSpPr>
          <p:cNvPr id="60" name="Text 2"/>
          <p:cNvSpPr/>
          <p:nvPr/>
        </p:nvSpPr>
        <p:spPr>
          <a:xfrm>
            <a:off x="457200" y="731520"/>
            <a:ext cx="8229240" cy="360"/>
          </a:xfrm>
          <a:prstGeom prst="rect">
            <a:avLst/>
          </a:prstGeom>
          <a:noFill/>
          <a:ln w="0">
            <a:noFill/>
          </a:ln>
        </p:spPr>
        <p:style>
          <a:lnRef idx="0"/>
          <a:fillRef idx="0"/>
          <a:effectRef idx="0"/>
          <a:fontRef idx="minor"/>
        </p:style>
        <p:txBody>
          <a:bodyPr lIns="90000" rIns="90000" tIns="-44280" bIns="-44280" anchor="ctr">
            <a:noAutofit/>
          </a:bodyPr>
          <a:p>
            <a:pPr defTabSz="914400">
              <a:lnSpc>
                <a:spcPct val="100000"/>
              </a:lnSpc>
              <a:tabLst>
                <a:tab algn="l" pos="0"/>
              </a:tabLst>
            </a:pPr>
            <a:r>
              <a:rPr b="1" lang="en-US" sz="3000" strike="noStrike" u="none">
                <a:solidFill>
                  <a:srgbClr val="0d1b2a"/>
                </a:solidFill>
                <a:effectLst/>
                <a:uFillTx/>
                <a:latin typeface="Calibri"/>
                <a:ea typeface="Calibri"/>
              </a:rPr>
              <a:t>A complete financial picture — in seconds.</a:t>
            </a:r>
            <a:endParaRPr b="0" lang="en-US" sz="3000" strike="noStrike" u="none">
              <a:solidFill>
                <a:srgbClr val="000000"/>
              </a:solidFill>
              <a:effectLst/>
              <a:uFillTx/>
              <a:latin typeface="Arial"/>
            </a:endParaRPr>
          </a:p>
        </p:txBody>
      </p:sp>
      <p:sp>
        <p:nvSpPr>
          <p:cNvPr id="61" name="Shape 3"/>
          <p:cNvSpPr/>
          <p:nvPr/>
        </p:nvSpPr>
        <p:spPr>
          <a:xfrm>
            <a:off x="457200" y="1508760"/>
            <a:ext cx="2742840" cy="1462680"/>
          </a:xfrm>
          <a:prstGeom prst="rect">
            <a:avLst/>
          </a:prstGeom>
          <a:solidFill>
            <a:srgbClr val="ffffff"/>
          </a:solidFill>
          <a:ln w="6350">
            <a:solidFill>
              <a:srgbClr val="e0e0e0"/>
            </a:solidFill>
            <a:round/>
          </a:ln>
          <a:effectLst>
            <a:outerShdw algn="bl" blurRad="101520" dir="8100000" dist="37674"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2" name="Shape 4"/>
          <p:cNvSpPr/>
          <p:nvPr/>
        </p:nvSpPr>
        <p:spPr>
          <a:xfrm>
            <a:off x="457200" y="1508760"/>
            <a:ext cx="63720" cy="1462680"/>
          </a:xfrm>
          <a:prstGeom prst="rect">
            <a:avLst/>
          </a:prstGeom>
          <a:solidFill>
            <a:srgbClr val="1f4e79"/>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3" name="Text 5"/>
          <p:cNvSpPr/>
          <p:nvPr/>
        </p:nvSpPr>
        <p:spPr>
          <a:xfrm>
            <a:off x="567000" y="1691640"/>
            <a:ext cx="548280" cy="5482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2200" strike="noStrike" u="none">
                <a:solidFill>
                  <a:srgbClr val="000000"/>
                </a:solidFill>
                <a:effectLst/>
                <a:uFillTx/>
                <a:latin typeface="Calibri"/>
              </a:rPr>
              <a:t>🏥</a:t>
            </a:r>
            <a:endParaRPr b="0" lang="en-US" sz="2200" strike="noStrike" u="none">
              <a:solidFill>
                <a:srgbClr val="000000"/>
              </a:solidFill>
              <a:effectLst/>
              <a:uFillTx/>
              <a:latin typeface="Arial"/>
            </a:endParaRPr>
          </a:p>
        </p:txBody>
      </p:sp>
      <p:sp>
        <p:nvSpPr>
          <p:cNvPr id="64" name="Text 6"/>
          <p:cNvSpPr/>
          <p:nvPr/>
        </p:nvSpPr>
        <p:spPr>
          <a:xfrm>
            <a:off x="1207080" y="1673280"/>
            <a:ext cx="1828440" cy="347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trike="noStrike" u="none">
                <a:solidFill>
                  <a:srgbClr val="0d1b2a"/>
                </a:solidFill>
                <a:effectLst/>
                <a:uFillTx/>
                <a:latin typeface="Calibri"/>
                <a:ea typeface="Calibri"/>
              </a:rPr>
              <a:t>Health Score</a:t>
            </a:r>
            <a:endParaRPr b="0" lang="en-US" sz="1300" strike="noStrike" u="none">
              <a:solidFill>
                <a:srgbClr val="000000"/>
              </a:solidFill>
              <a:effectLst/>
              <a:uFillTx/>
              <a:latin typeface="Arial"/>
            </a:endParaRPr>
          </a:p>
        </p:txBody>
      </p:sp>
      <p:sp>
        <p:nvSpPr>
          <p:cNvPr id="65" name="Text 7"/>
          <p:cNvSpPr/>
          <p:nvPr/>
        </p:nvSpPr>
        <p:spPr>
          <a:xfrm>
            <a:off x="567000" y="2258640"/>
            <a:ext cx="2514240" cy="5940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2c3e50"/>
                </a:solidFill>
                <a:effectLst/>
                <a:uFillTx/>
                <a:latin typeface="Calibri"/>
                <a:ea typeface="Calibri"/>
              </a:rPr>
              <a:t>0-100 score across 4 components: expenses, debt, savings &amp; buffer</a:t>
            </a:r>
            <a:endParaRPr b="0" lang="en-US" sz="1100" strike="noStrike" u="none">
              <a:solidFill>
                <a:srgbClr val="000000"/>
              </a:solidFill>
              <a:effectLst/>
              <a:uFillTx/>
              <a:latin typeface="Arial"/>
            </a:endParaRPr>
          </a:p>
        </p:txBody>
      </p:sp>
      <p:sp>
        <p:nvSpPr>
          <p:cNvPr id="66" name="Shape 8"/>
          <p:cNvSpPr/>
          <p:nvPr/>
        </p:nvSpPr>
        <p:spPr>
          <a:xfrm>
            <a:off x="3337560" y="1508760"/>
            <a:ext cx="2742840" cy="1462680"/>
          </a:xfrm>
          <a:prstGeom prst="rect">
            <a:avLst/>
          </a:prstGeom>
          <a:solidFill>
            <a:srgbClr val="ffffff"/>
          </a:solidFill>
          <a:ln w="6350">
            <a:solidFill>
              <a:srgbClr val="e0e0e0"/>
            </a:solidFill>
            <a:round/>
          </a:ln>
          <a:effectLst>
            <a:outerShdw algn="bl" blurRad="101520" dir="8100000" dist="37674"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7" name="Shape 9"/>
          <p:cNvSpPr/>
          <p:nvPr/>
        </p:nvSpPr>
        <p:spPr>
          <a:xfrm>
            <a:off x="3337560" y="1508760"/>
            <a:ext cx="63720" cy="1462680"/>
          </a:xfrm>
          <a:prstGeom prst="rect">
            <a:avLst/>
          </a:prstGeom>
          <a:solidFill>
            <a:srgbClr val="2e86ab"/>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8" name="Text 10"/>
          <p:cNvSpPr/>
          <p:nvPr/>
        </p:nvSpPr>
        <p:spPr>
          <a:xfrm>
            <a:off x="3447360" y="1691640"/>
            <a:ext cx="548280" cy="5482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2200" strike="noStrike" u="none">
                <a:solidFill>
                  <a:srgbClr val="000000"/>
                </a:solidFill>
                <a:effectLst/>
                <a:uFillTx/>
                <a:latin typeface="Calibri"/>
              </a:rPr>
              <a:t>🏦</a:t>
            </a:r>
            <a:endParaRPr b="0" lang="en-US" sz="2200" strike="noStrike" u="none">
              <a:solidFill>
                <a:srgbClr val="000000"/>
              </a:solidFill>
              <a:effectLst/>
              <a:uFillTx/>
              <a:latin typeface="Arial"/>
            </a:endParaRPr>
          </a:p>
        </p:txBody>
      </p:sp>
      <p:sp>
        <p:nvSpPr>
          <p:cNvPr id="69" name="Text 11"/>
          <p:cNvSpPr/>
          <p:nvPr/>
        </p:nvSpPr>
        <p:spPr>
          <a:xfrm>
            <a:off x="4087440" y="1673280"/>
            <a:ext cx="1828440" cy="347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trike="noStrike" u="none">
                <a:solidFill>
                  <a:srgbClr val="0d1b2a"/>
                </a:solidFill>
                <a:effectLst/>
                <a:uFillTx/>
                <a:latin typeface="Calibri"/>
                <a:ea typeface="Calibri"/>
              </a:rPr>
              <a:t>Loan Schedules</a:t>
            </a:r>
            <a:endParaRPr b="0" lang="en-US" sz="1300" strike="noStrike" u="none">
              <a:solidFill>
                <a:srgbClr val="000000"/>
              </a:solidFill>
              <a:effectLst/>
              <a:uFillTx/>
              <a:latin typeface="Arial"/>
            </a:endParaRPr>
          </a:p>
        </p:txBody>
      </p:sp>
      <p:sp>
        <p:nvSpPr>
          <p:cNvPr id="70" name="Text 12"/>
          <p:cNvSpPr/>
          <p:nvPr/>
        </p:nvSpPr>
        <p:spPr>
          <a:xfrm>
            <a:off x="3447360" y="2258640"/>
            <a:ext cx="2514240" cy="5940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2c3e50"/>
                </a:solidFill>
                <a:effectLst/>
                <a:uFillTx/>
                <a:latin typeface="Calibri"/>
                <a:ea typeface="Calibri"/>
              </a:rPr>
              <a:t>Full amortization tables — see exactly what you pay monthly</a:t>
            </a:r>
            <a:endParaRPr b="0" lang="en-US" sz="1100" strike="noStrike" u="none">
              <a:solidFill>
                <a:srgbClr val="000000"/>
              </a:solidFill>
              <a:effectLst/>
              <a:uFillTx/>
              <a:latin typeface="Arial"/>
            </a:endParaRPr>
          </a:p>
        </p:txBody>
      </p:sp>
      <p:sp>
        <p:nvSpPr>
          <p:cNvPr id="71" name="Shape 13"/>
          <p:cNvSpPr/>
          <p:nvPr/>
        </p:nvSpPr>
        <p:spPr>
          <a:xfrm>
            <a:off x="6217920" y="1508760"/>
            <a:ext cx="2742840" cy="1462680"/>
          </a:xfrm>
          <a:prstGeom prst="rect">
            <a:avLst/>
          </a:prstGeom>
          <a:solidFill>
            <a:srgbClr val="ffffff"/>
          </a:solidFill>
          <a:ln w="6350">
            <a:solidFill>
              <a:srgbClr val="e0e0e0"/>
            </a:solidFill>
            <a:round/>
          </a:ln>
          <a:effectLst>
            <a:outerShdw algn="bl" blurRad="101520" dir="8100000" dist="37674"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2" name="Shape 14"/>
          <p:cNvSpPr/>
          <p:nvPr/>
        </p:nvSpPr>
        <p:spPr>
          <a:xfrm>
            <a:off x="6217920" y="1508760"/>
            <a:ext cx="63720" cy="1462680"/>
          </a:xfrm>
          <a:prstGeom prst="rect">
            <a:avLst/>
          </a:prstGeom>
          <a:solidFill>
            <a:srgbClr val="27ae60"/>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3" name="Text 15"/>
          <p:cNvSpPr/>
          <p:nvPr/>
        </p:nvSpPr>
        <p:spPr>
          <a:xfrm>
            <a:off x="6327720" y="1691640"/>
            <a:ext cx="548280" cy="5482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2200" strike="noStrike" u="none">
                <a:solidFill>
                  <a:srgbClr val="000000"/>
                </a:solidFill>
                <a:effectLst/>
                <a:uFillTx/>
                <a:latin typeface="Calibri"/>
              </a:rPr>
              <a:t>📈</a:t>
            </a:r>
            <a:endParaRPr b="0" lang="en-US" sz="2200" strike="noStrike" u="none">
              <a:solidFill>
                <a:srgbClr val="000000"/>
              </a:solidFill>
              <a:effectLst/>
              <a:uFillTx/>
              <a:latin typeface="Arial"/>
            </a:endParaRPr>
          </a:p>
        </p:txBody>
      </p:sp>
      <p:sp>
        <p:nvSpPr>
          <p:cNvPr id="74" name="Text 16"/>
          <p:cNvSpPr/>
          <p:nvPr/>
        </p:nvSpPr>
        <p:spPr>
          <a:xfrm>
            <a:off x="6967800" y="1673280"/>
            <a:ext cx="1828440" cy="347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trike="noStrike" u="none">
                <a:solidFill>
                  <a:srgbClr val="0d1b2a"/>
                </a:solidFill>
                <a:effectLst/>
                <a:uFillTx/>
                <a:latin typeface="Calibri"/>
                <a:ea typeface="Calibri"/>
              </a:rPr>
              <a:t>Investment Growth</a:t>
            </a:r>
            <a:endParaRPr b="0" lang="en-US" sz="1300" strike="noStrike" u="none">
              <a:solidFill>
                <a:srgbClr val="000000"/>
              </a:solidFill>
              <a:effectLst/>
              <a:uFillTx/>
              <a:latin typeface="Arial"/>
            </a:endParaRPr>
          </a:p>
        </p:txBody>
      </p:sp>
      <p:sp>
        <p:nvSpPr>
          <p:cNvPr id="75" name="Text 17"/>
          <p:cNvSpPr/>
          <p:nvPr/>
        </p:nvSpPr>
        <p:spPr>
          <a:xfrm>
            <a:off x="6327720" y="2258640"/>
            <a:ext cx="2514240" cy="5940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2c3e50"/>
                </a:solidFill>
                <a:effectLst/>
                <a:uFillTx/>
                <a:latin typeface="Calibri"/>
                <a:ea typeface="Calibri"/>
              </a:rPr>
              <a:t>Compound interest projections year-by-year with visual charts</a:t>
            </a:r>
            <a:endParaRPr b="0" lang="en-US" sz="1100" strike="noStrike" u="none">
              <a:solidFill>
                <a:srgbClr val="000000"/>
              </a:solidFill>
              <a:effectLst/>
              <a:uFillTx/>
              <a:latin typeface="Arial"/>
            </a:endParaRPr>
          </a:p>
        </p:txBody>
      </p:sp>
      <p:sp>
        <p:nvSpPr>
          <p:cNvPr id="76" name="Shape 18"/>
          <p:cNvSpPr/>
          <p:nvPr/>
        </p:nvSpPr>
        <p:spPr>
          <a:xfrm>
            <a:off x="457200" y="3200400"/>
            <a:ext cx="2742840" cy="1462680"/>
          </a:xfrm>
          <a:prstGeom prst="rect">
            <a:avLst/>
          </a:prstGeom>
          <a:solidFill>
            <a:srgbClr val="ffffff"/>
          </a:solidFill>
          <a:ln w="6350">
            <a:solidFill>
              <a:srgbClr val="e0e0e0"/>
            </a:solidFill>
            <a:round/>
          </a:ln>
          <a:effectLst>
            <a:outerShdw algn="bl" blurRad="101520" dir="8100000" dist="37674"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7" name="Shape 19"/>
          <p:cNvSpPr/>
          <p:nvPr/>
        </p:nvSpPr>
        <p:spPr>
          <a:xfrm>
            <a:off x="457200" y="3200400"/>
            <a:ext cx="63720" cy="1462680"/>
          </a:xfrm>
          <a:prstGeom prst="rect">
            <a:avLst/>
          </a:prstGeom>
          <a:solidFill>
            <a:srgbClr val="f39c12"/>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8" name="Text 20"/>
          <p:cNvSpPr/>
          <p:nvPr/>
        </p:nvSpPr>
        <p:spPr>
          <a:xfrm>
            <a:off x="567000" y="3383280"/>
            <a:ext cx="548280" cy="5482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2200" strike="noStrike" u="none">
                <a:solidFill>
                  <a:srgbClr val="000000"/>
                </a:solidFill>
                <a:effectLst/>
                <a:uFillTx/>
                <a:latin typeface="Calibri"/>
              </a:rPr>
              <a:t>🎯</a:t>
            </a:r>
            <a:endParaRPr b="0" lang="en-US" sz="2200" strike="noStrike" u="none">
              <a:solidFill>
                <a:srgbClr val="000000"/>
              </a:solidFill>
              <a:effectLst/>
              <a:uFillTx/>
              <a:latin typeface="Arial"/>
            </a:endParaRPr>
          </a:p>
        </p:txBody>
      </p:sp>
      <p:sp>
        <p:nvSpPr>
          <p:cNvPr id="79" name="Text 21"/>
          <p:cNvSpPr/>
          <p:nvPr/>
        </p:nvSpPr>
        <p:spPr>
          <a:xfrm>
            <a:off x="1207080" y="3364920"/>
            <a:ext cx="1828440" cy="347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trike="noStrike" u="none">
                <a:solidFill>
                  <a:srgbClr val="0d1b2a"/>
                </a:solidFill>
                <a:effectLst/>
                <a:uFillTx/>
                <a:latin typeface="Calibri"/>
                <a:ea typeface="Calibri"/>
              </a:rPr>
              <a:t>Goal Timelines</a:t>
            </a:r>
            <a:endParaRPr b="0" lang="en-US" sz="1300" strike="noStrike" u="none">
              <a:solidFill>
                <a:srgbClr val="000000"/>
              </a:solidFill>
              <a:effectLst/>
              <a:uFillTx/>
              <a:latin typeface="Arial"/>
            </a:endParaRPr>
          </a:p>
        </p:txBody>
      </p:sp>
      <p:sp>
        <p:nvSpPr>
          <p:cNvPr id="80" name="Text 22"/>
          <p:cNvSpPr/>
          <p:nvPr/>
        </p:nvSpPr>
        <p:spPr>
          <a:xfrm>
            <a:off x="567000" y="3950280"/>
            <a:ext cx="2514240" cy="5940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2c3e50"/>
                </a:solidFill>
                <a:effectLst/>
                <a:uFillTx/>
                <a:latin typeface="Calibri"/>
                <a:ea typeface="Calibri"/>
              </a:rPr>
              <a:t>Exact months to reach every savings goal based on real cash flow</a:t>
            </a:r>
            <a:endParaRPr b="0" lang="en-US" sz="1100" strike="noStrike" u="none">
              <a:solidFill>
                <a:srgbClr val="000000"/>
              </a:solidFill>
              <a:effectLst/>
              <a:uFillTx/>
              <a:latin typeface="Arial"/>
            </a:endParaRPr>
          </a:p>
        </p:txBody>
      </p:sp>
      <p:sp>
        <p:nvSpPr>
          <p:cNvPr id="81" name="Shape 23"/>
          <p:cNvSpPr/>
          <p:nvPr/>
        </p:nvSpPr>
        <p:spPr>
          <a:xfrm>
            <a:off x="3337560" y="3200400"/>
            <a:ext cx="2742840" cy="1462680"/>
          </a:xfrm>
          <a:prstGeom prst="rect">
            <a:avLst/>
          </a:prstGeom>
          <a:solidFill>
            <a:srgbClr val="ffffff"/>
          </a:solidFill>
          <a:ln w="6350">
            <a:solidFill>
              <a:srgbClr val="e0e0e0"/>
            </a:solidFill>
            <a:round/>
          </a:ln>
          <a:effectLst>
            <a:outerShdw algn="bl" blurRad="101520" dir="8100000" dist="37674"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2" name="Shape 24"/>
          <p:cNvSpPr/>
          <p:nvPr/>
        </p:nvSpPr>
        <p:spPr>
          <a:xfrm>
            <a:off x="3337560" y="3200400"/>
            <a:ext cx="63720" cy="1462680"/>
          </a:xfrm>
          <a:prstGeom prst="rect">
            <a:avLst/>
          </a:prstGeom>
          <a:solidFill>
            <a:srgbClr val="1f4e79"/>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3" name="Text 25"/>
          <p:cNvSpPr/>
          <p:nvPr/>
        </p:nvSpPr>
        <p:spPr>
          <a:xfrm>
            <a:off x="3447360" y="3383280"/>
            <a:ext cx="548280" cy="5482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2200" strike="noStrike" u="none">
                <a:solidFill>
                  <a:srgbClr val="000000"/>
                </a:solidFill>
                <a:effectLst/>
                <a:uFillTx/>
                <a:latin typeface="Calibri"/>
              </a:rPr>
              <a:t>📊</a:t>
            </a:r>
            <a:endParaRPr b="0" lang="en-US" sz="2200" strike="noStrike" u="none">
              <a:solidFill>
                <a:srgbClr val="000000"/>
              </a:solidFill>
              <a:effectLst/>
              <a:uFillTx/>
              <a:latin typeface="Arial"/>
            </a:endParaRPr>
          </a:p>
        </p:txBody>
      </p:sp>
      <p:sp>
        <p:nvSpPr>
          <p:cNvPr id="84" name="Text 26"/>
          <p:cNvSpPr/>
          <p:nvPr/>
        </p:nvSpPr>
        <p:spPr>
          <a:xfrm>
            <a:off x="4087440" y="3364920"/>
            <a:ext cx="1828440" cy="347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trike="noStrike" u="none">
                <a:solidFill>
                  <a:srgbClr val="0d1b2a"/>
                </a:solidFill>
                <a:effectLst/>
                <a:uFillTx/>
                <a:latin typeface="Calibri"/>
                <a:ea typeface="Calibri"/>
              </a:rPr>
              <a:t>50/30/20 Budget</a:t>
            </a:r>
            <a:endParaRPr b="0" lang="en-US" sz="1300" strike="noStrike" u="none">
              <a:solidFill>
                <a:srgbClr val="000000"/>
              </a:solidFill>
              <a:effectLst/>
              <a:uFillTx/>
              <a:latin typeface="Arial"/>
            </a:endParaRPr>
          </a:p>
        </p:txBody>
      </p:sp>
      <p:sp>
        <p:nvSpPr>
          <p:cNvPr id="85" name="Text 27"/>
          <p:cNvSpPr/>
          <p:nvPr/>
        </p:nvSpPr>
        <p:spPr>
          <a:xfrm>
            <a:off x="3447360" y="3950280"/>
            <a:ext cx="2514240" cy="5940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2c3e50"/>
                </a:solidFill>
                <a:effectLst/>
                <a:uFillTx/>
                <a:latin typeface="Calibri"/>
                <a:ea typeface="Calibri"/>
              </a:rPr>
              <a:t>Needs, Wants, Savings split with DTI ratio and risk rating</a:t>
            </a:r>
            <a:endParaRPr b="0" lang="en-US" sz="1100" strike="noStrike" u="none">
              <a:solidFill>
                <a:srgbClr val="000000"/>
              </a:solidFill>
              <a:effectLst/>
              <a:uFillTx/>
              <a:latin typeface="Arial"/>
            </a:endParaRPr>
          </a:p>
        </p:txBody>
      </p:sp>
      <p:sp>
        <p:nvSpPr>
          <p:cNvPr id="86" name="Shape 28"/>
          <p:cNvSpPr/>
          <p:nvPr/>
        </p:nvSpPr>
        <p:spPr>
          <a:xfrm>
            <a:off x="6217920" y="3200400"/>
            <a:ext cx="2742840" cy="1462680"/>
          </a:xfrm>
          <a:prstGeom prst="rect">
            <a:avLst/>
          </a:prstGeom>
          <a:solidFill>
            <a:srgbClr val="ffffff"/>
          </a:solidFill>
          <a:ln w="6350">
            <a:solidFill>
              <a:srgbClr val="e0e0e0"/>
            </a:solidFill>
            <a:round/>
          </a:ln>
          <a:effectLst>
            <a:outerShdw algn="bl" blurRad="101520" dir="8100000" dist="37674"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7" name="Shape 29"/>
          <p:cNvSpPr/>
          <p:nvPr/>
        </p:nvSpPr>
        <p:spPr>
          <a:xfrm>
            <a:off x="6217920" y="3200400"/>
            <a:ext cx="63720" cy="1462680"/>
          </a:xfrm>
          <a:prstGeom prst="rect">
            <a:avLst/>
          </a:prstGeom>
          <a:solidFill>
            <a:srgbClr val="27ae60"/>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8" name="Text 30"/>
          <p:cNvSpPr/>
          <p:nvPr/>
        </p:nvSpPr>
        <p:spPr>
          <a:xfrm>
            <a:off x="6327720" y="3383280"/>
            <a:ext cx="548280" cy="5482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2200" strike="noStrike" u="none">
                <a:solidFill>
                  <a:srgbClr val="000000"/>
                </a:solidFill>
                <a:effectLst/>
                <a:uFillTx/>
                <a:latin typeface="Calibri"/>
              </a:rPr>
              <a:t>✅</a:t>
            </a:r>
            <a:endParaRPr b="0" lang="en-US" sz="2200" strike="noStrike" u="none">
              <a:solidFill>
                <a:srgbClr val="000000"/>
              </a:solidFill>
              <a:effectLst/>
              <a:uFillTx/>
              <a:latin typeface="Arial"/>
            </a:endParaRPr>
          </a:p>
        </p:txBody>
      </p:sp>
      <p:sp>
        <p:nvSpPr>
          <p:cNvPr id="89" name="Text 31"/>
          <p:cNvSpPr/>
          <p:nvPr/>
        </p:nvSpPr>
        <p:spPr>
          <a:xfrm>
            <a:off x="6967800" y="3364920"/>
            <a:ext cx="1828440" cy="347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trike="noStrike" u="none">
                <a:solidFill>
                  <a:srgbClr val="0d1b2a"/>
                </a:solidFill>
                <a:effectLst/>
                <a:uFillTx/>
                <a:latin typeface="Calibri"/>
                <a:ea typeface="Calibri"/>
              </a:rPr>
              <a:t>Recommendations</a:t>
            </a:r>
            <a:endParaRPr b="0" lang="en-US" sz="1300" strike="noStrike" u="none">
              <a:solidFill>
                <a:srgbClr val="000000"/>
              </a:solidFill>
              <a:effectLst/>
              <a:uFillTx/>
              <a:latin typeface="Arial"/>
            </a:endParaRPr>
          </a:p>
        </p:txBody>
      </p:sp>
      <p:sp>
        <p:nvSpPr>
          <p:cNvPr id="90" name="Text 32"/>
          <p:cNvSpPr/>
          <p:nvPr/>
        </p:nvSpPr>
        <p:spPr>
          <a:xfrm>
            <a:off x="6327720" y="3950280"/>
            <a:ext cx="2514240" cy="5940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2c3e50"/>
                </a:solidFill>
                <a:effectLst/>
                <a:uFillTx/>
                <a:latin typeface="Calibri"/>
                <a:ea typeface="Calibri"/>
              </a:rPr>
              <a:t>Rule-based plain-English financial advice personalized to your data</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91" name="Text 0"/>
          <p:cNvSpPr/>
          <p:nvPr/>
        </p:nvSpPr>
        <p:spPr>
          <a:xfrm>
            <a:off x="457200" y="228600"/>
            <a:ext cx="8229240" cy="360"/>
          </a:xfrm>
          <a:prstGeom prst="rect">
            <a:avLst/>
          </a:prstGeom>
          <a:noFill/>
          <a:ln w="0">
            <a:noFill/>
          </a:ln>
        </p:spPr>
        <p:style>
          <a:lnRef idx="0"/>
          <a:fillRef idx="0"/>
          <a:effectRef idx="0"/>
          <a:fontRef idx="minor"/>
        </p:style>
        <p:txBody>
          <a:bodyPr lIns="90000" rIns="90000" tIns="-44280" bIns="-44280" anchor="ctr">
            <a:noAutofit/>
          </a:bodyPr>
          <a:p>
            <a:pPr algn="ctr" defTabSz="914400">
              <a:lnSpc>
                <a:spcPct val="100000"/>
              </a:lnSpc>
              <a:tabLst>
                <a:tab algn="l" pos="0"/>
              </a:tabLst>
            </a:pPr>
            <a:r>
              <a:rPr b="1" lang="en-US" sz="3200" strike="noStrike" u="none">
                <a:solidFill>
                  <a:srgbClr val="ffffff"/>
                </a:solidFill>
                <a:effectLst/>
                <a:uFillTx/>
                <a:latin typeface="Calibri"/>
                <a:ea typeface="Calibri"/>
              </a:rPr>
              <a:t>How It Works</a:t>
            </a:r>
            <a:endParaRPr b="0" lang="en-US" sz="3200" strike="noStrike" u="none">
              <a:solidFill>
                <a:srgbClr val="ffffff"/>
              </a:solidFill>
              <a:effectLst/>
              <a:uFillTx/>
              <a:latin typeface="Arial"/>
            </a:endParaRPr>
          </a:p>
        </p:txBody>
      </p:sp>
      <p:sp>
        <p:nvSpPr>
          <p:cNvPr id="92" name="Text 1"/>
          <p:cNvSpPr/>
          <p:nvPr/>
        </p:nvSpPr>
        <p:spPr>
          <a:xfrm>
            <a:off x="457200" y="777240"/>
            <a:ext cx="8229240" cy="360"/>
          </a:xfrm>
          <a:prstGeom prst="rect">
            <a:avLst/>
          </a:prstGeom>
          <a:noFill/>
          <a:ln w="0">
            <a:noFill/>
          </a:ln>
        </p:spPr>
        <p:style>
          <a:lnRef idx="0"/>
          <a:fillRef idx="0"/>
          <a:effectRef idx="0"/>
          <a:fontRef idx="minor"/>
        </p:style>
        <p:txBody>
          <a:bodyPr lIns="90000" rIns="90000" tIns="-44280" bIns="-44280" anchor="ctr">
            <a:noAutofit/>
          </a:bodyPr>
          <a:p>
            <a:pPr algn="ctr" defTabSz="914400">
              <a:lnSpc>
                <a:spcPct val="100000"/>
              </a:lnSpc>
              <a:tabLst>
                <a:tab algn="l" pos="0"/>
              </a:tabLst>
            </a:pPr>
            <a:r>
              <a:rPr b="0" i="1" lang="en-US" sz="1400" strike="noStrike" u="none">
                <a:solidFill>
                  <a:srgbClr val="95a5a6"/>
                </a:solidFill>
                <a:effectLst/>
                <a:uFillTx/>
                <a:latin typeface="Calibri"/>
                <a:ea typeface="Calibri"/>
              </a:rPr>
              <a:t>Four simple steps from input to actionable plan.</a:t>
            </a:r>
            <a:endParaRPr b="0" lang="en-US" sz="1400" strike="noStrike" u="none">
              <a:solidFill>
                <a:srgbClr val="ffffff"/>
              </a:solidFill>
              <a:effectLst/>
              <a:uFillTx/>
              <a:latin typeface="Arial"/>
            </a:endParaRPr>
          </a:p>
        </p:txBody>
      </p:sp>
      <p:sp>
        <p:nvSpPr>
          <p:cNvPr id="93" name="Shape 2"/>
          <p:cNvSpPr/>
          <p:nvPr/>
        </p:nvSpPr>
        <p:spPr>
          <a:xfrm>
            <a:off x="457200" y="1417320"/>
            <a:ext cx="1965600" cy="3200040"/>
          </a:xfrm>
          <a:prstGeom prst="rect">
            <a:avLst/>
          </a:prstGeom>
          <a:solidFill>
            <a:srgbClr val="1a2e42"/>
          </a:solidFill>
          <a:ln w="0">
            <a:noFill/>
          </a:ln>
          <a:effectLst>
            <a:outerShdw algn="bl" blurRad="101520" dir="8100000" dist="37674"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4" name="Shape 3"/>
          <p:cNvSpPr/>
          <p:nvPr/>
        </p:nvSpPr>
        <p:spPr>
          <a:xfrm>
            <a:off x="457200" y="1417320"/>
            <a:ext cx="1965600" cy="54360"/>
          </a:xfrm>
          <a:prstGeom prst="rect">
            <a:avLst/>
          </a:prstGeom>
          <a:solidFill>
            <a:srgbClr val="2e86ab"/>
          </a:solidFill>
          <a:ln w="0">
            <a:noFill/>
          </a:ln>
        </p:spPr>
        <p:style>
          <a:lnRef idx="0"/>
          <a:fillRef idx="0"/>
          <a:effectRef idx="0"/>
          <a:fontRef idx="minor"/>
        </p:style>
        <p:txBody>
          <a:bodyPr lIns="90000" rIns="90000" tIns="9720" bIns="9720" anchor="t">
            <a:noAutofit/>
          </a:bodyPr>
          <a:p>
            <a:endParaRPr b="0" lang="en-US" sz="1800" strike="noStrike" u="none">
              <a:solidFill>
                <a:srgbClr val="ffffff"/>
              </a:solidFill>
              <a:effectLst/>
              <a:uFillTx/>
              <a:latin typeface="Arial"/>
            </a:endParaRPr>
          </a:p>
        </p:txBody>
      </p:sp>
      <p:sp>
        <p:nvSpPr>
          <p:cNvPr id="95" name="Shape 4"/>
          <p:cNvSpPr/>
          <p:nvPr/>
        </p:nvSpPr>
        <p:spPr>
          <a:xfrm>
            <a:off x="1188720" y="1600200"/>
            <a:ext cx="502560" cy="502560"/>
          </a:xfrm>
          <a:prstGeom prst="ellipse">
            <a:avLst/>
          </a:prstGeom>
          <a:solidFill>
            <a:srgbClr val="2e86ab"/>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6" name="Text 5"/>
          <p:cNvSpPr/>
          <p:nvPr/>
        </p:nvSpPr>
        <p:spPr>
          <a:xfrm>
            <a:off x="1188720" y="1600200"/>
            <a:ext cx="50256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trike="noStrike" u="none">
                <a:solidFill>
                  <a:srgbClr val="ffffff"/>
                </a:solidFill>
                <a:effectLst/>
                <a:uFillTx/>
                <a:latin typeface="Calibri"/>
              </a:rPr>
              <a:t>1</a:t>
            </a:r>
            <a:endParaRPr b="0" lang="en-US" sz="1800" strike="noStrike" u="none">
              <a:solidFill>
                <a:srgbClr val="ffffff"/>
              </a:solidFill>
              <a:effectLst/>
              <a:uFillTx/>
              <a:latin typeface="Arial"/>
            </a:endParaRPr>
          </a:p>
        </p:txBody>
      </p:sp>
      <p:sp>
        <p:nvSpPr>
          <p:cNvPr id="97" name="Text 6"/>
          <p:cNvSpPr/>
          <p:nvPr/>
        </p:nvSpPr>
        <p:spPr>
          <a:xfrm>
            <a:off x="457200" y="2286000"/>
            <a:ext cx="1965600" cy="6397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2800" strike="noStrike" u="none">
                <a:solidFill>
                  <a:srgbClr val="000000"/>
                </a:solidFill>
                <a:effectLst/>
                <a:uFillTx/>
                <a:latin typeface="Calibri"/>
              </a:rPr>
              <a:t>💱</a:t>
            </a:r>
            <a:endParaRPr b="0" lang="en-US" sz="2800" strike="noStrike" u="none">
              <a:solidFill>
                <a:srgbClr val="ffffff"/>
              </a:solidFill>
              <a:effectLst/>
              <a:uFillTx/>
              <a:latin typeface="Arial"/>
            </a:endParaRPr>
          </a:p>
        </p:txBody>
      </p:sp>
      <p:sp>
        <p:nvSpPr>
          <p:cNvPr id="98" name="Text 7"/>
          <p:cNvSpPr/>
          <p:nvPr/>
        </p:nvSpPr>
        <p:spPr>
          <a:xfrm>
            <a:off x="548640" y="3017520"/>
            <a:ext cx="1782720" cy="6397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300" strike="noStrike" u="none">
                <a:solidFill>
                  <a:srgbClr val="ffffff"/>
                </a:solidFill>
                <a:effectLst/>
                <a:uFillTx/>
                <a:latin typeface="Calibri"/>
                <a:ea typeface="Calibri"/>
              </a:rPr>
              <a:t>Select Currency &amp; Profile</a:t>
            </a:r>
            <a:endParaRPr b="0" lang="en-US" sz="1300" strike="noStrike" u="none">
              <a:solidFill>
                <a:srgbClr val="ffffff"/>
              </a:solidFill>
              <a:effectLst/>
              <a:uFillTx/>
              <a:latin typeface="Arial"/>
            </a:endParaRPr>
          </a:p>
        </p:txBody>
      </p:sp>
      <p:sp>
        <p:nvSpPr>
          <p:cNvPr id="99" name="Text 8"/>
          <p:cNvSpPr/>
          <p:nvPr/>
        </p:nvSpPr>
        <p:spPr>
          <a:xfrm>
            <a:off x="548640" y="3703320"/>
            <a:ext cx="1782720" cy="7768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100" strike="noStrike" u="none">
                <a:solidFill>
                  <a:srgbClr val="7f8c8d"/>
                </a:solidFill>
                <a:effectLst/>
                <a:uFillTx/>
                <a:latin typeface="Calibri"/>
                <a:ea typeface="Calibri"/>
              </a:rPr>
              <a:t>PKR, USD, EUR, GBP or AED</a:t>
            </a:r>
            <a:endParaRPr b="0" lang="en-US" sz="1100" strike="noStrike" u="none">
              <a:solidFill>
                <a:srgbClr val="ffffff"/>
              </a:solidFill>
              <a:effectLst/>
              <a:uFillTx/>
              <a:latin typeface="Arial"/>
            </a:endParaRPr>
          </a:p>
          <a:p>
            <a:pPr algn="ctr" defTabSz="914400">
              <a:lnSpc>
                <a:spcPct val="100000"/>
              </a:lnSpc>
              <a:tabLst>
                <a:tab algn="l" pos="0"/>
              </a:tabLst>
            </a:pPr>
            <a:r>
              <a:rPr b="0" lang="en-US" sz="1100" strike="noStrike" u="none">
                <a:solidFill>
                  <a:srgbClr val="7f8c8d"/>
                </a:solidFill>
                <a:effectLst/>
                <a:uFillTx/>
                <a:latin typeface="Calibri"/>
                <a:ea typeface="Calibri"/>
              </a:rPr>
              <a:t>Individual, Household or Shop</a:t>
            </a:r>
            <a:endParaRPr b="0" lang="en-US" sz="1100" strike="noStrike" u="none">
              <a:solidFill>
                <a:srgbClr val="ffffff"/>
              </a:solidFill>
              <a:effectLst/>
              <a:uFillTx/>
              <a:latin typeface="Arial"/>
            </a:endParaRPr>
          </a:p>
        </p:txBody>
      </p:sp>
      <p:sp>
        <p:nvSpPr>
          <p:cNvPr id="100" name="Shape 9"/>
          <p:cNvSpPr/>
          <p:nvPr/>
        </p:nvSpPr>
        <p:spPr>
          <a:xfrm>
            <a:off x="2468880" y="3017520"/>
            <a:ext cx="91440" cy="360"/>
          </a:xfrm>
          <a:prstGeom prst="line">
            <a:avLst/>
          </a:prstGeom>
          <a:ln w="25400">
            <a:solidFill>
              <a:srgbClr val="2e86ab"/>
            </a:solidFill>
            <a:round/>
          </a:ln>
        </p:spPr>
        <p:style>
          <a:lnRef idx="0"/>
          <a:fillRef idx="0"/>
          <a:effectRef idx="0"/>
          <a:fontRef idx="minor"/>
        </p:style>
        <p:txBody>
          <a:bodyPr lIns="90000" rIns="90000" tIns="-44640" bIns="-44640" anchor="t" anchorCtr="1">
            <a:noAutofit/>
          </a:bodyPr>
          <a:p>
            <a:endParaRPr b="0" lang="en-US" sz="1800" strike="noStrike" u="none">
              <a:solidFill>
                <a:srgbClr val="ffffff"/>
              </a:solidFill>
              <a:effectLst/>
              <a:uFillTx/>
              <a:latin typeface="Arial"/>
            </a:endParaRPr>
          </a:p>
        </p:txBody>
      </p:sp>
      <p:sp>
        <p:nvSpPr>
          <p:cNvPr id="101" name="Text 10"/>
          <p:cNvSpPr/>
          <p:nvPr/>
        </p:nvSpPr>
        <p:spPr>
          <a:xfrm>
            <a:off x="2377440" y="2834640"/>
            <a:ext cx="273960" cy="319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800" strike="noStrike" u="none">
                <a:solidFill>
                  <a:srgbClr val="2e86ab"/>
                </a:solidFill>
                <a:effectLst/>
                <a:uFillTx/>
                <a:latin typeface="Calibri"/>
              </a:rPr>
              <a:t>→</a:t>
            </a:r>
            <a:endParaRPr b="0" lang="en-US" sz="1800" strike="noStrike" u="none">
              <a:solidFill>
                <a:srgbClr val="ffffff"/>
              </a:solidFill>
              <a:effectLst/>
              <a:uFillTx/>
              <a:latin typeface="Arial"/>
            </a:endParaRPr>
          </a:p>
        </p:txBody>
      </p:sp>
      <p:sp>
        <p:nvSpPr>
          <p:cNvPr id="102" name="Shape 11"/>
          <p:cNvSpPr/>
          <p:nvPr/>
        </p:nvSpPr>
        <p:spPr>
          <a:xfrm>
            <a:off x="2606040" y="1417320"/>
            <a:ext cx="1965600" cy="3200040"/>
          </a:xfrm>
          <a:prstGeom prst="rect">
            <a:avLst/>
          </a:prstGeom>
          <a:solidFill>
            <a:srgbClr val="1a2e42"/>
          </a:solidFill>
          <a:ln w="0">
            <a:noFill/>
          </a:ln>
          <a:effectLst>
            <a:outerShdw algn="bl" blurRad="101520" dir="8100000" dist="37674"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03" name="Shape 12"/>
          <p:cNvSpPr/>
          <p:nvPr/>
        </p:nvSpPr>
        <p:spPr>
          <a:xfrm>
            <a:off x="2606040" y="1417320"/>
            <a:ext cx="1965600" cy="54360"/>
          </a:xfrm>
          <a:prstGeom prst="rect">
            <a:avLst/>
          </a:prstGeom>
          <a:solidFill>
            <a:srgbClr val="27ae60"/>
          </a:solidFill>
          <a:ln w="0">
            <a:noFill/>
          </a:ln>
        </p:spPr>
        <p:style>
          <a:lnRef idx="0"/>
          <a:fillRef idx="0"/>
          <a:effectRef idx="0"/>
          <a:fontRef idx="minor"/>
        </p:style>
        <p:txBody>
          <a:bodyPr lIns="90000" rIns="90000" tIns="9720" bIns="9720" anchor="t">
            <a:noAutofit/>
          </a:bodyPr>
          <a:p>
            <a:endParaRPr b="0" lang="en-US" sz="1800" strike="noStrike" u="none">
              <a:solidFill>
                <a:srgbClr val="ffffff"/>
              </a:solidFill>
              <a:effectLst/>
              <a:uFillTx/>
              <a:latin typeface="Arial"/>
            </a:endParaRPr>
          </a:p>
        </p:txBody>
      </p:sp>
      <p:sp>
        <p:nvSpPr>
          <p:cNvPr id="104" name="Shape 13"/>
          <p:cNvSpPr/>
          <p:nvPr/>
        </p:nvSpPr>
        <p:spPr>
          <a:xfrm>
            <a:off x="3337560" y="1600200"/>
            <a:ext cx="502560" cy="502560"/>
          </a:xfrm>
          <a:prstGeom prst="ellipse">
            <a:avLst/>
          </a:prstGeom>
          <a:solidFill>
            <a:srgbClr val="27ae60"/>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05" name="Text 14"/>
          <p:cNvSpPr/>
          <p:nvPr/>
        </p:nvSpPr>
        <p:spPr>
          <a:xfrm>
            <a:off x="3337560" y="1600200"/>
            <a:ext cx="50256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trike="noStrike" u="none">
                <a:solidFill>
                  <a:srgbClr val="ffffff"/>
                </a:solidFill>
                <a:effectLst/>
                <a:uFillTx/>
                <a:latin typeface="Calibri"/>
              </a:rPr>
              <a:t>2</a:t>
            </a:r>
            <a:endParaRPr b="0" lang="en-US" sz="1800" strike="noStrike" u="none">
              <a:solidFill>
                <a:srgbClr val="ffffff"/>
              </a:solidFill>
              <a:effectLst/>
              <a:uFillTx/>
              <a:latin typeface="Arial"/>
            </a:endParaRPr>
          </a:p>
        </p:txBody>
      </p:sp>
      <p:sp>
        <p:nvSpPr>
          <p:cNvPr id="106" name="Text 15"/>
          <p:cNvSpPr/>
          <p:nvPr/>
        </p:nvSpPr>
        <p:spPr>
          <a:xfrm>
            <a:off x="2606040" y="2286000"/>
            <a:ext cx="1965600" cy="6397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2800" strike="noStrike" u="none">
                <a:solidFill>
                  <a:srgbClr val="000000"/>
                </a:solidFill>
                <a:effectLst/>
                <a:uFillTx/>
                <a:latin typeface="Calibri"/>
              </a:rPr>
              <a:t>📝</a:t>
            </a:r>
            <a:endParaRPr b="0" lang="en-US" sz="2800" strike="noStrike" u="none">
              <a:solidFill>
                <a:srgbClr val="ffffff"/>
              </a:solidFill>
              <a:effectLst/>
              <a:uFillTx/>
              <a:latin typeface="Arial"/>
            </a:endParaRPr>
          </a:p>
        </p:txBody>
      </p:sp>
      <p:sp>
        <p:nvSpPr>
          <p:cNvPr id="107" name="Text 16"/>
          <p:cNvSpPr/>
          <p:nvPr/>
        </p:nvSpPr>
        <p:spPr>
          <a:xfrm>
            <a:off x="2697480" y="3017520"/>
            <a:ext cx="1782720" cy="6397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300" strike="noStrike" u="none">
                <a:solidFill>
                  <a:srgbClr val="ffffff"/>
                </a:solidFill>
                <a:effectLst/>
                <a:uFillTx/>
                <a:latin typeface="Calibri"/>
                <a:ea typeface="Calibri"/>
              </a:rPr>
              <a:t>Enter Your Financials</a:t>
            </a:r>
            <a:endParaRPr b="0" lang="en-US" sz="1300" strike="noStrike" u="none">
              <a:solidFill>
                <a:srgbClr val="ffffff"/>
              </a:solidFill>
              <a:effectLst/>
              <a:uFillTx/>
              <a:latin typeface="Arial"/>
            </a:endParaRPr>
          </a:p>
        </p:txBody>
      </p:sp>
      <p:sp>
        <p:nvSpPr>
          <p:cNvPr id="108" name="Text 17"/>
          <p:cNvSpPr/>
          <p:nvPr/>
        </p:nvSpPr>
        <p:spPr>
          <a:xfrm>
            <a:off x="2697480" y="3703320"/>
            <a:ext cx="1782720" cy="7768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100" strike="noStrike" u="none">
                <a:solidFill>
                  <a:srgbClr val="7f8c8d"/>
                </a:solidFill>
                <a:effectLst/>
                <a:uFillTx/>
                <a:latin typeface="Calibri"/>
                <a:ea typeface="Calibri"/>
              </a:rPr>
              <a:t>Income, expenses, loans,</a:t>
            </a:r>
            <a:endParaRPr b="0" lang="en-US" sz="1100" strike="noStrike" u="none">
              <a:solidFill>
                <a:srgbClr val="ffffff"/>
              </a:solidFill>
              <a:effectLst/>
              <a:uFillTx/>
              <a:latin typeface="Arial"/>
            </a:endParaRPr>
          </a:p>
          <a:p>
            <a:pPr algn="ctr" defTabSz="914400">
              <a:lnSpc>
                <a:spcPct val="100000"/>
              </a:lnSpc>
              <a:tabLst>
                <a:tab algn="l" pos="0"/>
              </a:tabLst>
            </a:pPr>
            <a:r>
              <a:rPr b="0" lang="en-US" sz="1100" strike="noStrike" u="none">
                <a:solidFill>
                  <a:srgbClr val="7f8c8d"/>
                </a:solidFill>
                <a:effectLst/>
                <a:uFillTx/>
                <a:latin typeface="Calibri"/>
                <a:ea typeface="Calibri"/>
              </a:rPr>
              <a:t>goals and investments</a:t>
            </a:r>
            <a:endParaRPr b="0" lang="en-US" sz="1100" strike="noStrike" u="none">
              <a:solidFill>
                <a:srgbClr val="ffffff"/>
              </a:solidFill>
              <a:effectLst/>
              <a:uFillTx/>
              <a:latin typeface="Arial"/>
            </a:endParaRPr>
          </a:p>
        </p:txBody>
      </p:sp>
      <p:sp>
        <p:nvSpPr>
          <p:cNvPr id="109" name="Shape 18"/>
          <p:cNvSpPr/>
          <p:nvPr/>
        </p:nvSpPr>
        <p:spPr>
          <a:xfrm>
            <a:off x="4617720" y="3017520"/>
            <a:ext cx="91440" cy="360"/>
          </a:xfrm>
          <a:prstGeom prst="line">
            <a:avLst/>
          </a:prstGeom>
          <a:ln w="25400">
            <a:solidFill>
              <a:srgbClr val="27ae60"/>
            </a:solidFill>
            <a:round/>
          </a:ln>
        </p:spPr>
        <p:style>
          <a:lnRef idx="0"/>
          <a:fillRef idx="0"/>
          <a:effectRef idx="0"/>
          <a:fontRef idx="minor"/>
        </p:style>
        <p:txBody>
          <a:bodyPr lIns="90000" rIns="90000" tIns="-44640" bIns="-44640" anchor="t" anchorCtr="1">
            <a:noAutofit/>
          </a:bodyPr>
          <a:p>
            <a:endParaRPr b="0" lang="en-US" sz="1800" strike="noStrike" u="none">
              <a:solidFill>
                <a:srgbClr val="ffffff"/>
              </a:solidFill>
              <a:effectLst/>
              <a:uFillTx/>
              <a:latin typeface="Arial"/>
            </a:endParaRPr>
          </a:p>
        </p:txBody>
      </p:sp>
      <p:sp>
        <p:nvSpPr>
          <p:cNvPr id="110" name="Text 19"/>
          <p:cNvSpPr/>
          <p:nvPr/>
        </p:nvSpPr>
        <p:spPr>
          <a:xfrm>
            <a:off x="4526280" y="2834640"/>
            <a:ext cx="273960" cy="319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800" strike="noStrike" u="none">
                <a:solidFill>
                  <a:srgbClr val="27ae60"/>
                </a:solidFill>
                <a:effectLst/>
                <a:uFillTx/>
                <a:latin typeface="Calibri"/>
              </a:rPr>
              <a:t>→</a:t>
            </a:r>
            <a:endParaRPr b="0" lang="en-US" sz="1800" strike="noStrike" u="none">
              <a:solidFill>
                <a:srgbClr val="ffffff"/>
              </a:solidFill>
              <a:effectLst/>
              <a:uFillTx/>
              <a:latin typeface="Arial"/>
            </a:endParaRPr>
          </a:p>
        </p:txBody>
      </p:sp>
      <p:sp>
        <p:nvSpPr>
          <p:cNvPr id="111" name="Shape 20"/>
          <p:cNvSpPr/>
          <p:nvPr/>
        </p:nvSpPr>
        <p:spPr>
          <a:xfrm>
            <a:off x="4754880" y="1417320"/>
            <a:ext cx="1965600" cy="3200040"/>
          </a:xfrm>
          <a:prstGeom prst="rect">
            <a:avLst/>
          </a:prstGeom>
          <a:solidFill>
            <a:srgbClr val="1a2e42"/>
          </a:solidFill>
          <a:ln w="0">
            <a:noFill/>
          </a:ln>
          <a:effectLst>
            <a:outerShdw algn="bl" blurRad="101520" dir="8100000" dist="37674"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12" name="Shape 21"/>
          <p:cNvSpPr/>
          <p:nvPr/>
        </p:nvSpPr>
        <p:spPr>
          <a:xfrm>
            <a:off x="4754880" y="1417320"/>
            <a:ext cx="1965600" cy="54360"/>
          </a:xfrm>
          <a:prstGeom prst="rect">
            <a:avLst/>
          </a:prstGeom>
          <a:solidFill>
            <a:srgbClr val="f39c12"/>
          </a:solidFill>
          <a:ln w="0">
            <a:noFill/>
          </a:ln>
        </p:spPr>
        <p:style>
          <a:lnRef idx="0"/>
          <a:fillRef idx="0"/>
          <a:effectRef idx="0"/>
          <a:fontRef idx="minor"/>
        </p:style>
        <p:txBody>
          <a:bodyPr lIns="90000" rIns="90000" tIns="9720" bIns="9720" anchor="t">
            <a:noAutofit/>
          </a:bodyPr>
          <a:p>
            <a:endParaRPr b="0" lang="en-US" sz="1800" strike="noStrike" u="none">
              <a:solidFill>
                <a:srgbClr val="000000"/>
              </a:solidFill>
              <a:effectLst/>
              <a:uFillTx/>
              <a:latin typeface="Arial"/>
            </a:endParaRPr>
          </a:p>
        </p:txBody>
      </p:sp>
      <p:sp>
        <p:nvSpPr>
          <p:cNvPr id="113" name="Shape 22"/>
          <p:cNvSpPr/>
          <p:nvPr/>
        </p:nvSpPr>
        <p:spPr>
          <a:xfrm>
            <a:off x="5486400" y="1600200"/>
            <a:ext cx="502560" cy="502560"/>
          </a:xfrm>
          <a:prstGeom prst="ellipse">
            <a:avLst/>
          </a:prstGeom>
          <a:solidFill>
            <a:srgbClr val="f39c12"/>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14" name="Text 23"/>
          <p:cNvSpPr/>
          <p:nvPr/>
        </p:nvSpPr>
        <p:spPr>
          <a:xfrm>
            <a:off x="5486400" y="1600200"/>
            <a:ext cx="50256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trike="noStrike" u="none">
                <a:solidFill>
                  <a:srgbClr val="ffffff"/>
                </a:solidFill>
                <a:effectLst/>
                <a:uFillTx/>
                <a:latin typeface="Calibri"/>
              </a:rPr>
              <a:t>3</a:t>
            </a:r>
            <a:endParaRPr b="0" lang="en-US" sz="1800" strike="noStrike" u="none">
              <a:solidFill>
                <a:srgbClr val="ffffff"/>
              </a:solidFill>
              <a:effectLst/>
              <a:uFillTx/>
              <a:latin typeface="Arial"/>
            </a:endParaRPr>
          </a:p>
        </p:txBody>
      </p:sp>
      <p:sp>
        <p:nvSpPr>
          <p:cNvPr id="115" name="Text 24"/>
          <p:cNvSpPr/>
          <p:nvPr/>
        </p:nvSpPr>
        <p:spPr>
          <a:xfrm>
            <a:off x="4754880" y="2286000"/>
            <a:ext cx="1965600" cy="6397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2800" strike="noStrike" u="none">
                <a:solidFill>
                  <a:srgbClr val="000000"/>
                </a:solidFill>
                <a:effectLst/>
                <a:uFillTx/>
                <a:latin typeface="Calibri"/>
              </a:rPr>
              <a:t>⚡</a:t>
            </a:r>
            <a:endParaRPr b="0" lang="en-US" sz="2800" strike="noStrike" u="none">
              <a:solidFill>
                <a:srgbClr val="ffffff"/>
              </a:solidFill>
              <a:effectLst/>
              <a:uFillTx/>
              <a:latin typeface="Arial"/>
            </a:endParaRPr>
          </a:p>
        </p:txBody>
      </p:sp>
      <p:sp>
        <p:nvSpPr>
          <p:cNvPr id="116" name="Text 25"/>
          <p:cNvSpPr/>
          <p:nvPr/>
        </p:nvSpPr>
        <p:spPr>
          <a:xfrm>
            <a:off x="4846320" y="3017520"/>
            <a:ext cx="1782720" cy="6397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300" strike="noStrike" u="none">
                <a:solidFill>
                  <a:srgbClr val="ffffff"/>
                </a:solidFill>
                <a:effectLst/>
                <a:uFillTx/>
                <a:latin typeface="Calibri"/>
                <a:ea typeface="Calibri"/>
              </a:rPr>
              <a:t>Click Generate</a:t>
            </a:r>
            <a:endParaRPr b="0" lang="en-US" sz="1300" strike="noStrike" u="none">
              <a:solidFill>
                <a:srgbClr val="ffffff"/>
              </a:solidFill>
              <a:effectLst/>
              <a:uFillTx/>
              <a:latin typeface="Arial"/>
            </a:endParaRPr>
          </a:p>
        </p:txBody>
      </p:sp>
      <p:sp>
        <p:nvSpPr>
          <p:cNvPr id="117" name="Text 26"/>
          <p:cNvSpPr/>
          <p:nvPr/>
        </p:nvSpPr>
        <p:spPr>
          <a:xfrm>
            <a:off x="4846320" y="3703320"/>
            <a:ext cx="1782720" cy="7768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100" strike="noStrike" u="none">
                <a:solidFill>
                  <a:srgbClr val="7f8c8d"/>
                </a:solidFill>
                <a:effectLst/>
                <a:uFillTx/>
                <a:latin typeface="Calibri"/>
                <a:ea typeface="Calibri"/>
              </a:rPr>
              <a:t>Our financial engine runs</a:t>
            </a:r>
            <a:endParaRPr b="0" lang="en-US" sz="1100" strike="noStrike" u="none">
              <a:solidFill>
                <a:srgbClr val="ffffff"/>
              </a:solidFill>
              <a:effectLst/>
              <a:uFillTx/>
              <a:latin typeface="Arial"/>
            </a:endParaRPr>
          </a:p>
          <a:p>
            <a:pPr algn="ctr" defTabSz="914400">
              <a:lnSpc>
                <a:spcPct val="100000"/>
              </a:lnSpc>
              <a:tabLst>
                <a:tab algn="l" pos="0"/>
              </a:tabLst>
            </a:pPr>
            <a:r>
              <a:rPr b="0" lang="en-US" sz="1100" strike="noStrike" u="none">
                <a:solidFill>
                  <a:srgbClr val="7f8c8d"/>
                </a:solidFill>
                <a:effectLst/>
                <a:uFillTx/>
                <a:latin typeface="Calibri"/>
                <a:ea typeface="Calibri"/>
              </a:rPr>
              <a:t>10+ formulas instantly</a:t>
            </a:r>
            <a:endParaRPr b="0" lang="en-US" sz="1100" strike="noStrike" u="none">
              <a:solidFill>
                <a:srgbClr val="ffffff"/>
              </a:solidFill>
              <a:effectLst/>
              <a:uFillTx/>
              <a:latin typeface="Arial"/>
            </a:endParaRPr>
          </a:p>
        </p:txBody>
      </p:sp>
      <p:sp>
        <p:nvSpPr>
          <p:cNvPr id="118" name="Shape 27"/>
          <p:cNvSpPr/>
          <p:nvPr/>
        </p:nvSpPr>
        <p:spPr>
          <a:xfrm>
            <a:off x="6766560" y="3017520"/>
            <a:ext cx="91440" cy="360"/>
          </a:xfrm>
          <a:prstGeom prst="line">
            <a:avLst/>
          </a:prstGeom>
          <a:ln w="25400">
            <a:solidFill>
              <a:srgbClr val="f39c12"/>
            </a:solidFill>
            <a:round/>
          </a:ln>
        </p:spPr>
        <p:style>
          <a:lnRef idx="0"/>
          <a:fillRef idx="0"/>
          <a:effectRef idx="0"/>
          <a:fontRef idx="minor"/>
        </p:style>
        <p:txBody>
          <a:bodyPr lIns="90000" rIns="90000" tIns="-44640" bIns="-44640" anchor="t" anchorCtr="1">
            <a:noAutofit/>
          </a:bodyPr>
          <a:p>
            <a:endParaRPr b="0" lang="en-US" sz="1800" strike="noStrike" u="none">
              <a:solidFill>
                <a:srgbClr val="ffffff"/>
              </a:solidFill>
              <a:effectLst/>
              <a:uFillTx/>
              <a:latin typeface="Arial"/>
            </a:endParaRPr>
          </a:p>
        </p:txBody>
      </p:sp>
      <p:sp>
        <p:nvSpPr>
          <p:cNvPr id="119" name="Text 28"/>
          <p:cNvSpPr/>
          <p:nvPr/>
        </p:nvSpPr>
        <p:spPr>
          <a:xfrm>
            <a:off x="6675120" y="2834640"/>
            <a:ext cx="273960" cy="319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800" strike="noStrike" u="none">
                <a:solidFill>
                  <a:srgbClr val="f39c12"/>
                </a:solidFill>
                <a:effectLst/>
                <a:uFillTx/>
                <a:latin typeface="Calibri"/>
              </a:rPr>
              <a:t>→</a:t>
            </a:r>
            <a:endParaRPr b="0" lang="en-US" sz="1800" strike="noStrike" u="none">
              <a:solidFill>
                <a:srgbClr val="ffffff"/>
              </a:solidFill>
              <a:effectLst/>
              <a:uFillTx/>
              <a:latin typeface="Arial"/>
            </a:endParaRPr>
          </a:p>
        </p:txBody>
      </p:sp>
      <p:sp>
        <p:nvSpPr>
          <p:cNvPr id="120" name="Shape 29"/>
          <p:cNvSpPr/>
          <p:nvPr/>
        </p:nvSpPr>
        <p:spPr>
          <a:xfrm>
            <a:off x="6903720" y="1417320"/>
            <a:ext cx="1965600" cy="3200040"/>
          </a:xfrm>
          <a:prstGeom prst="rect">
            <a:avLst/>
          </a:prstGeom>
          <a:solidFill>
            <a:srgbClr val="1a2e42"/>
          </a:solidFill>
          <a:ln w="0">
            <a:noFill/>
          </a:ln>
          <a:effectLst>
            <a:outerShdw algn="bl" blurRad="101520" dir="8100000" dist="37674"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21" name="Shape 30"/>
          <p:cNvSpPr/>
          <p:nvPr/>
        </p:nvSpPr>
        <p:spPr>
          <a:xfrm>
            <a:off x="6903720" y="1417320"/>
            <a:ext cx="1965600" cy="54360"/>
          </a:xfrm>
          <a:prstGeom prst="rect">
            <a:avLst/>
          </a:prstGeom>
          <a:solidFill>
            <a:srgbClr val="2e86ab"/>
          </a:solidFill>
          <a:ln w="0">
            <a:noFill/>
          </a:ln>
        </p:spPr>
        <p:style>
          <a:lnRef idx="0"/>
          <a:fillRef idx="0"/>
          <a:effectRef idx="0"/>
          <a:fontRef idx="minor"/>
        </p:style>
        <p:txBody>
          <a:bodyPr lIns="90000" rIns="90000" tIns="9720" bIns="9720" anchor="t">
            <a:noAutofit/>
          </a:bodyPr>
          <a:p>
            <a:endParaRPr b="0" lang="en-US" sz="1800" strike="noStrike" u="none">
              <a:solidFill>
                <a:srgbClr val="ffffff"/>
              </a:solidFill>
              <a:effectLst/>
              <a:uFillTx/>
              <a:latin typeface="Arial"/>
            </a:endParaRPr>
          </a:p>
        </p:txBody>
      </p:sp>
      <p:sp>
        <p:nvSpPr>
          <p:cNvPr id="122" name="Shape 31"/>
          <p:cNvSpPr/>
          <p:nvPr/>
        </p:nvSpPr>
        <p:spPr>
          <a:xfrm>
            <a:off x="7635240" y="1600200"/>
            <a:ext cx="502560" cy="502560"/>
          </a:xfrm>
          <a:prstGeom prst="ellipse">
            <a:avLst/>
          </a:prstGeom>
          <a:solidFill>
            <a:srgbClr val="2e86ab"/>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23" name="Text 32"/>
          <p:cNvSpPr/>
          <p:nvPr/>
        </p:nvSpPr>
        <p:spPr>
          <a:xfrm>
            <a:off x="7635240" y="1600200"/>
            <a:ext cx="50256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trike="noStrike" u="none">
                <a:solidFill>
                  <a:srgbClr val="ffffff"/>
                </a:solidFill>
                <a:effectLst/>
                <a:uFillTx/>
                <a:latin typeface="Calibri"/>
              </a:rPr>
              <a:t>4</a:t>
            </a:r>
            <a:endParaRPr b="0" lang="en-US" sz="1800" strike="noStrike" u="none">
              <a:solidFill>
                <a:srgbClr val="ffffff"/>
              </a:solidFill>
              <a:effectLst/>
              <a:uFillTx/>
              <a:latin typeface="Arial"/>
            </a:endParaRPr>
          </a:p>
        </p:txBody>
      </p:sp>
      <p:sp>
        <p:nvSpPr>
          <p:cNvPr id="124" name="Text 33"/>
          <p:cNvSpPr/>
          <p:nvPr/>
        </p:nvSpPr>
        <p:spPr>
          <a:xfrm>
            <a:off x="6903720" y="2286000"/>
            <a:ext cx="1965600" cy="6397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2800" strike="noStrike" u="none">
                <a:solidFill>
                  <a:srgbClr val="000000"/>
                </a:solidFill>
                <a:effectLst/>
                <a:uFillTx/>
                <a:latin typeface="Calibri"/>
              </a:rPr>
              <a:t>📋</a:t>
            </a:r>
            <a:endParaRPr b="0" lang="en-US" sz="2800" strike="noStrike" u="none">
              <a:solidFill>
                <a:srgbClr val="ffffff"/>
              </a:solidFill>
              <a:effectLst/>
              <a:uFillTx/>
              <a:latin typeface="Arial"/>
            </a:endParaRPr>
          </a:p>
        </p:txBody>
      </p:sp>
      <p:sp>
        <p:nvSpPr>
          <p:cNvPr id="125" name="Text 34"/>
          <p:cNvSpPr/>
          <p:nvPr/>
        </p:nvSpPr>
        <p:spPr>
          <a:xfrm>
            <a:off x="6995160" y="3017520"/>
            <a:ext cx="1782720" cy="6397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300" strike="noStrike" u="none">
                <a:solidFill>
                  <a:srgbClr val="ffffff"/>
                </a:solidFill>
                <a:effectLst/>
                <a:uFillTx/>
                <a:latin typeface="Calibri"/>
                <a:ea typeface="Calibri"/>
              </a:rPr>
              <a:t>Explore Your Plan</a:t>
            </a:r>
            <a:endParaRPr b="0" lang="en-US" sz="1300" strike="noStrike" u="none">
              <a:solidFill>
                <a:srgbClr val="ffffff"/>
              </a:solidFill>
              <a:effectLst/>
              <a:uFillTx/>
              <a:latin typeface="Arial"/>
            </a:endParaRPr>
          </a:p>
        </p:txBody>
      </p:sp>
      <p:sp>
        <p:nvSpPr>
          <p:cNvPr id="126" name="Text 35"/>
          <p:cNvSpPr/>
          <p:nvPr/>
        </p:nvSpPr>
        <p:spPr>
          <a:xfrm>
            <a:off x="6995160" y="3703320"/>
            <a:ext cx="1782720" cy="7768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100" strike="noStrike" u="none">
                <a:solidFill>
                  <a:srgbClr val="7f8c8d"/>
                </a:solidFill>
                <a:effectLst/>
                <a:uFillTx/>
                <a:latin typeface="Calibri"/>
                <a:ea typeface="Calibri"/>
              </a:rPr>
              <a:t>Charts, tables, score</a:t>
            </a:r>
            <a:endParaRPr b="0" lang="en-US" sz="1100" strike="noStrike" u="none">
              <a:solidFill>
                <a:srgbClr val="ffffff"/>
              </a:solidFill>
              <a:effectLst/>
              <a:uFillTx/>
              <a:latin typeface="Arial"/>
            </a:endParaRPr>
          </a:p>
          <a:p>
            <a:pPr algn="ctr" defTabSz="914400">
              <a:lnSpc>
                <a:spcPct val="100000"/>
              </a:lnSpc>
              <a:tabLst>
                <a:tab algn="l" pos="0"/>
              </a:tabLst>
            </a:pPr>
            <a:r>
              <a:rPr b="0" lang="en-US" sz="1100" strike="noStrike" u="none">
                <a:solidFill>
                  <a:srgbClr val="7f8c8d"/>
                </a:solidFill>
                <a:effectLst/>
                <a:uFillTx/>
                <a:latin typeface="Calibri"/>
                <a:ea typeface="Calibri"/>
              </a:rPr>
              <a:t>and recommendations</a:t>
            </a:r>
            <a:endParaRPr b="0" lang="en-US" sz="11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7" name="Shape 0"/>
          <p:cNvSpPr/>
          <p:nvPr/>
        </p:nvSpPr>
        <p:spPr>
          <a:xfrm>
            <a:off x="0" y="0"/>
            <a:ext cx="3474360" cy="5143320"/>
          </a:xfrm>
          <a:prstGeom prst="rect">
            <a:avLst/>
          </a:prstGeom>
          <a:solidFill>
            <a:srgbClr val="2c3e50"/>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28" name="Text 1"/>
          <p:cNvSpPr/>
          <p:nvPr/>
        </p:nvSpPr>
        <p:spPr>
          <a:xfrm>
            <a:off x="182880" y="365760"/>
            <a:ext cx="3108600" cy="164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600" strike="noStrike" u="none">
                <a:solidFill>
                  <a:srgbClr val="ffffff"/>
                </a:solidFill>
                <a:effectLst/>
                <a:uFillTx/>
                <a:latin typeface="Calibri"/>
                <a:ea typeface="Calibri"/>
              </a:rPr>
              <a:t>The Math</a:t>
            </a:r>
            <a:endParaRPr b="0" lang="en-US" sz="2600" strike="noStrike" u="none">
              <a:solidFill>
                <a:srgbClr val="000000"/>
              </a:solidFill>
              <a:effectLst/>
              <a:uFillTx/>
              <a:latin typeface="Arial"/>
            </a:endParaRPr>
          </a:p>
          <a:p>
            <a:pPr defTabSz="914400">
              <a:lnSpc>
                <a:spcPct val="100000"/>
              </a:lnSpc>
              <a:tabLst>
                <a:tab algn="l" pos="0"/>
              </a:tabLst>
            </a:pPr>
            <a:r>
              <a:rPr b="1" lang="en-US" sz="2600" strike="noStrike" u="none">
                <a:solidFill>
                  <a:srgbClr val="ffffff"/>
                </a:solidFill>
                <a:effectLst/>
                <a:uFillTx/>
                <a:latin typeface="Calibri"/>
                <a:ea typeface="Calibri"/>
              </a:rPr>
              <a:t>Behind</a:t>
            </a:r>
            <a:endParaRPr b="0" lang="en-US" sz="2600" strike="noStrike" u="none">
              <a:solidFill>
                <a:srgbClr val="000000"/>
              </a:solidFill>
              <a:effectLst/>
              <a:uFillTx/>
              <a:latin typeface="Arial"/>
            </a:endParaRPr>
          </a:p>
          <a:p>
            <a:pPr defTabSz="914400">
              <a:lnSpc>
                <a:spcPct val="100000"/>
              </a:lnSpc>
              <a:tabLst>
                <a:tab algn="l" pos="0"/>
              </a:tabLst>
            </a:pPr>
            <a:r>
              <a:rPr b="1" lang="en-US" sz="2600" strike="noStrike" u="none">
                <a:solidFill>
                  <a:srgbClr val="ffffff"/>
                </a:solidFill>
                <a:effectLst/>
                <a:uFillTx/>
                <a:latin typeface="Calibri"/>
                <a:ea typeface="Calibri"/>
              </a:rPr>
              <a:t>The Plan</a:t>
            </a:r>
            <a:endParaRPr b="0" lang="en-US" sz="2600" strike="noStrike" u="none">
              <a:solidFill>
                <a:srgbClr val="000000"/>
              </a:solidFill>
              <a:effectLst/>
              <a:uFillTx/>
              <a:latin typeface="Arial"/>
            </a:endParaRPr>
          </a:p>
        </p:txBody>
      </p:sp>
      <p:sp>
        <p:nvSpPr>
          <p:cNvPr id="129" name="Shape 2"/>
          <p:cNvSpPr/>
          <p:nvPr/>
        </p:nvSpPr>
        <p:spPr>
          <a:xfrm>
            <a:off x="182880" y="2103120"/>
            <a:ext cx="2743200" cy="360"/>
          </a:xfrm>
          <a:prstGeom prst="line">
            <a:avLst/>
          </a:prstGeom>
          <a:ln w="25400">
            <a:solidFill>
              <a:srgbClr val="27ae60"/>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30" name="Text 3"/>
          <p:cNvSpPr/>
          <p:nvPr/>
        </p:nvSpPr>
        <p:spPr>
          <a:xfrm>
            <a:off x="182880" y="2286000"/>
            <a:ext cx="3017160" cy="22856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00" strike="noStrike" u="none">
                <a:solidFill>
                  <a:srgbClr val="bdc3c7"/>
                </a:solidFill>
                <a:effectLst/>
                <a:uFillTx/>
                <a:latin typeface="Calibri"/>
                <a:ea typeface="Calibri"/>
              </a:rPr>
              <a:t>No AI black box.</a:t>
            </a:r>
            <a:endParaRPr b="0" lang="en-US" sz="1300" strike="noStrike" u="none">
              <a:solidFill>
                <a:srgbClr val="000000"/>
              </a:solidFill>
              <a:effectLst/>
              <a:uFillTx/>
              <a:latin typeface="Arial"/>
            </a:endParaRPr>
          </a:p>
          <a:p>
            <a:pPr defTabSz="914400">
              <a:lnSpc>
                <a:spcPct val="100000"/>
              </a:lnSpc>
              <a:tabLst>
                <a:tab algn="l" pos="0"/>
              </a:tabLst>
            </a:pPr>
            <a:r>
              <a:rPr b="0" lang="en-US" sz="1300" strike="noStrike" u="none">
                <a:solidFill>
                  <a:srgbClr val="bdc3c7"/>
                </a:solidFill>
                <a:effectLst/>
                <a:uFillTx/>
                <a:latin typeface="Calibri"/>
                <a:ea typeface="Calibri"/>
              </a:rPr>
              <a:t>No guesswork.</a:t>
            </a:r>
            <a:endParaRPr b="0" lang="en-US" sz="1300" strike="noStrike" u="none">
              <a:solidFill>
                <a:srgbClr val="000000"/>
              </a:solidFill>
              <a:effectLst/>
              <a:uFillTx/>
              <a:latin typeface="Arial"/>
            </a:endParaRPr>
          </a:p>
          <a:p>
            <a:pPr defTabSz="914400">
              <a:lnSpc>
                <a:spcPct val="100000"/>
              </a:lnSpc>
              <a:tabLst>
                <a:tab algn="l" pos="0"/>
              </a:tabLst>
            </a:pPr>
            <a:r>
              <a:rPr b="0" lang="en-US" sz="1300" strike="noStrike" u="none">
                <a:solidFill>
                  <a:srgbClr val="bdc3c7"/>
                </a:solidFill>
                <a:effectLst/>
                <a:uFillTx/>
                <a:latin typeface="Calibri"/>
                <a:ea typeface="Calibri"/>
              </a:rPr>
              <a:t>Real financial formulas</a:t>
            </a:r>
            <a:endParaRPr b="0" lang="en-US" sz="1300" strike="noStrike" u="none">
              <a:solidFill>
                <a:srgbClr val="000000"/>
              </a:solidFill>
              <a:effectLst/>
              <a:uFillTx/>
              <a:latin typeface="Arial"/>
            </a:endParaRPr>
          </a:p>
          <a:p>
            <a:pPr defTabSz="914400">
              <a:lnSpc>
                <a:spcPct val="100000"/>
              </a:lnSpc>
              <a:tabLst>
                <a:tab algn="l" pos="0"/>
              </a:tabLst>
            </a:pPr>
            <a:r>
              <a:rPr b="0" lang="en-US" sz="1300" strike="noStrike" u="none">
                <a:solidFill>
                  <a:srgbClr val="bdc3c7"/>
                </a:solidFill>
                <a:effectLst/>
                <a:uFillTx/>
                <a:latin typeface="Calibri"/>
                <a:ea typeface="Calibri"/>
              </a:rPr>
              <a:t>used by banks and</a:t>
            </a:r>
            <a:endParaRPr b="0" lang="en-US" sz="1300" strike="noStrike" u="none">
              <a:solidFill>
                <a:srgbClr val="000000"/>
              </a:solidFill>
              <a:effectLst/>
              <a:uFillTx/>
              <a:latin typeface="Arial"/>
            </a:endParaRPr>
          </a:p>
          <a:p>
            <a:pPr defTabSz="914400">
              <a:lnSpc>
                <a:spcPct val="100000"/>
              </a:lnSpc>
              <a:tabLst>
                <a:tab algn="l" pos="0"/>
              </a:tabLst>
            </a:pPr>
            <a:r>
              <a:rPr b="0" lang="en-US" sz="1300" strike="noStrike" u="none">
                <a:solidFill>
                  <a:srgbClr val="bdc3c7"/>
                </a:solidFill>
                <a:effectLst/>
                <a:uFillTx/>
                <a:latin typeface="Calibri"/>
                <a:ea typeface="Calibri"/>
              </a:rPr>
              <a:t>financial advisors worldwide.</a:t>
            </a:r>
            <a:endParaRPr b="0" lang="en-US" sz="1300" strike="noStrike" u="none">
              <a:solidFill>
                <a:srgbClr val="000000"/>
              </a:solidFill>
              <a:effectLst/>
              <a:uFillTx/>
              <a:latin typeface="Arial"/>
            </a:endParaRPr>
          </a:p>
        </p:txBody>
      </p:sp>
      <p:sp>
        <p:nvSpPr>
          <p:cNvPr id="131" name="Text 4"/>
          <p:cNvSpPr/>
          <p:nvPr/>
        </p:nvSpPr>
        <p:spPr>
          <a:xfrm>
            <a:off x="3749040" y="274320"/>
            <a:ext cx="5120280" cy="411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800" strike="noStrike" u="none">
                <a:solidFill>
                  <a:srgbClr val="0d1b2a"/>
                </a:solidFill>
                <a:effectLst/>
                <a:uFillTx/>
                <a:latin typeface="Calibri"/>
                <a:ea typeface="Calibri"/>
              </a:rPr>
              <a:t>What the engine calculates:</a:t>
            </a:r>
            <a:endParaRPr b="0" lang="en-US" sz="1800" strike="noStrike" u="none">
              <a:solidFill>
                <a:srgbClr val="000000"/>
              </a:solidFill>
              <a:effectLst/>
              <a:uFillTx/>
              <a:latin typeface="Arial"/>
            </a:endParaRPr>
          </a:p>
        </p:txBody>
      </p:sp>
      <p:sp>
        <p:nvSpPr>
          <p:cNvPr id="132" name="Shape 5"/>
          <p:cNvSpPr/>
          <p:nvPr/>
        </p:nvSpPr>
        <p:spPr>
          <a:xfrm>
            <a:off x="3749040" y="822960"/>
            <a:ext cx="5120280" cy="868320"/>
          </a:xfrm>
          <a:prstGeom prst="rect">
            <a:avLst/>
          </a:prstGeom>
          <a:solidFill>
            <a:srgbClr val="f0f4f8"/>
          </a:solidFill>
          <a:ln w="0">
            <a:noFill/>
          </a:ln>
          <a:effectLst>
            <a:outerShdw algn="bl" blurRad="101520" dir="8100000" dist="37674"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33" name="Shape 6"/>
          <p:cNvSpPr/>
          <p:nvPr/>
        </p:nvSpPr>
        <p:spPr>
          <a:xfrm>
            <a:off x="3749040" y="822960"/>
            <a:ext cx="63720" cy="868320"/>
          </a:xfrm>
          <a:prstGeom prst="rect">
            <a:avLst/>
          </a:prstGeom>
          <a:solidFill>
            <a:srgbClr val="2e86ab"/>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34" name="Text 7"/>
          <p:cNvSpPr/>
          <p:nvPr/>
        </p:nvSpPr>
        <p:spPr>
          <a:xfrm>
            <a:off x="3931920" y="868680"/>
            <a:ext cx="475452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trike="noStrike" u="none">
                <a:solidFill>
                  <a:srgbClr val="0d1b2a"/>
                </a:solidFill>
                <a:effectLst/>
                <a:uFillTx/>
                <a:latin typeface="Calibri"/>
                <a:ea typeface="Calibri"/>
              </a:rPr>
              <a:t>EMI Formula</a:t>
            </a:r>
            <a:endParaRPr b="0" lang="en-US" sz="1200" strike="noStrike" u="none">
              <a:solidFill>
                <a:srgbClr val="000000"/>
              </a:solidFill>
              <a:effectLst/>
              <a:uFillTx/>
              <a:latin typeface="Arial"/>
            </a:endParaRPr>
          </a:p>
        </p:txBody>
      </p:sp>
      <p:sp>
        <p:nvSpPr>
          <p:cNvPr id="135" name="Text 8"/>
          <p:cNvSpPr/>
          <p:nvPr/>
        </p:nvSpPr>
        <p:spPr>
          <a:xfrm>
            <a:off x="3931920" y="1207080"/>
            <a:ext cx="475452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100" strike="noStrike" u="none">
                <a:solidFill>
                  <a:srgbClr val="7f8c8d"/>
                </a:solidFill>
                <a:effectLst/>
                <a:uFillTx/>
                <a:latin typeface="Courier New"/>
                <a:ea typeface="Courier New"/>
              </a:rPr>
              <a:t>M = P × [r(1+r)ⁿ] / [(1+r)ⁿ - 1]</a:t>
            </a:r>
            <a:endParaRPr b="0" lang="en-US" sz="1100" strike="noStrike" u="none">
              <a:solidFill>
                <a:srgbClr val="000000"/>
              </a:solidFill>
              <a:effectLst/>
              <a:uFillTx/>
              <a:latin typeface="Arial"/>
            </a:endParaRPr>
          </a:p>
        </p:txBody>
      </p:sp>
      <p:sp>
        <p:nvSpPr>
          <p:cNvPr id="136" name="Shape 9"/>
          <p:cNvSpPr/>
          <p:nvPr/>
        </p:nvSpPr>
        <p:spPr>
          <a:xfrm>
            <a:off x="3749040" y="1828800"/>
            <a:ext cx="5120280" cy="868320"/>
          </a:xfrm>
          <a:prstGeom prst="rect">
            <a:avLst/>
          </a:prstGeom>
          <a:solidFill>
            <a:srgbClr val="f0f4f8"/>
          </a:solidFill>
          <a:ln w="0">
            <a:noFill/>
          </a:ln>
          <a:effectLst>
            <a:outerShdw algn="bl" blurRad="101520" dir="8100000" dist="37674"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37" name="Shape 10"/>
          <p:cNvSpPr/>
          <p:nvPr/>
        </p:nvSpPr>
        <p:spPr>
          <a:xfrm>
            <a:off x="3749040" y="1828800"/>
            <a:ext cx="63720" cy="868320"/>
          </a:xfrm>
          <a:prstGeom prst="rect">
            <a:avLst/>
          </a:prstGeom>
          <a:solidFill>
            <a:srgbClr val="27ae60"/>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38" name="Text 11"/>
          <p:cNvSpPr/>
          <p:nvPr/>
        </p:nvSpPr>
        <p:spPr>
          <a:xfrm>
            <a:off x="3931920" y="1874520"/>
            <a:ext cx="475452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trike="noStrike" u="none">
                <a:solidFill>
                  <a:srgbClr val="0d1b2a"/>
                </a:solidFill>
                <a:effectLst/>
                <a:uFillTx/>
                <a:latin typeface="Calibri"/>
                <a:ea typeface="Calibri"/>
              </a:rPr>
              <a:t>Compound Interest</a:t>
            </a:r>
            <a:endParaRPr b="0" lang="en-US" sz="1200" strike="noStrike" u="none">
              <a:solidFill>
                <a:srgbClr val="000000"/>
              </a:solidFill>
              <a:effectLst/>
              <a:uFillTx/>
              <a:latin typeface="Arial"/>
            </a:endParaRPr>
          </a:p>
        </p:txBody>
      </p:sp>
      <p:sp>
        <p:nvSpPr>
          <p:cNvPr id="139" name="Text 12"/>
          <p:cNvSpPr/>
          <p:nvPr/>
        </p:nvSpPr>
        <p:spPr>
          <a:xfrm>
            <a:off x="3931920" y="2212920"/>
            <a:ext cx="475452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100" strike="noStrike" u="none">
                <a:solidFill>
                  <a:srgbClr val="7f8c8d"/>
                </a:solidFill>
                <a:effectLst/>
                <a:uFillTx/>
                <a:latin typeface="Courier New"/>
                <a:ea typeface="Courier New"/>
              </a:rPr>
              <a:t>A = P × (1 + r/n)^(n×t)</a:t>
            </a:r>
            <a:endParaRPr b="0" lang="en-US" sz="1100" strike="noStrike" u="none">
              <a:solidFill>
                <a:srgbClr val="000000"/>
              </a:solidFill>
              <a:effectLst/>
              <a:uFillTx/>
              <a:latin typeface="Arial"/>
            </a:endParaRPr>
          </a:p>
        </p:txBody>
      </p:sp>
      <p:sp>
        <p:nvSpPr>
          <p:cNvPr id="140" name="Shape 13"/>
          <p:cNvSpPr/>
          <p:nvPr/>
        </p:nvSpPr>
        <p:spPr>
          <a:xfrm>
            <a:off x="3749040" y="2834640"/>
            <a:ext cx="5120280" cy="868320"/>
          </a:xfrm>
          <a:prstGeom prst="rect">
            <a:avLst/>
          </a:prstGeom>
          <a:solidFill>
            <a:srgbClr val="f0f4f8"/>
          </a:solidFill>
          <a:ln w="0">
            <a:noFill/>
          </a:ln>
          <a:effectLst>
            <a:outerShdw algn="bl" blurRad="101520" dir="8100000" dist="37674"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41" name="Shape 14"/>
          <p:cNvSpPr/>
          <p:nvPr/>
        </p:nvSpPr>
        <p:spPr>
          <a:xfrm>
            <a:off x="3749040" y="2834640"/>
            <a:ext cx="63720" cy="868320"/>
          </a:xfrm>
          <a:prstGeom prst="rect">
            <a:avLst/>
          </a:prstGeom>
          <a:solidFill>
            <a:srgbClr val="f39c12"/>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42" name="Text 15"/>
          <p:cNvSpPr/>
          <p:nvPr/>
        </p:nvSpPr>
        <p:spPr>
          <a:xfrm>
            <a:off x="3931920" y="2880360"/>
            <a:ext cx="475452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trike="noStrike" u="none">
                <a:solidFill>
                  <a:srgbClr val="0d1b2a"/>
                </a:solidFill>
                <a:effectLst/>
                <a:uFillTx/>
                <a:latin typeface="Calibri"/>
                <a:ea typeface="Calibri"/>
              </a:rPr>
              <a:t>Debt-to-Income Ratio</a:t>
            </a:r>
            <a:endParaRPr b="0" lang="en-US" sz="1200" strike="noStrike" u="none">
              <a:solidFill>
                <a:srgbClr val="000000"/>
              </a:solidFill>
              <a:effectLst/>
              <a:uFillTx/>
              <a:latin typeface="Arial"/>
            </a:endParaRPr>
          </a:p>
        </p:txBody>
      </p:sp>
      <p:sp>
        <p:nvSpPr>
          <p:cNvPr id="143" name="Text 16"/>
          <p:cNvSpPr/>
          <p:nvPr/>
        </p:nvSpPr>
        <p:spPr>
          <a:xfrm>
            <a:off x="3931920" y="3218760"/>
            <a:ext cx="475452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100" strike="noStrike" u="none">
                <a:solidFill>
                  <a:srgbClr val="7f8c8d"/>
                </a:solidFill>
                <a:effectLst/>
                <a:uFillTx/>
                <a:latin typeface="Courier New"/>
                <a:ea typeface="Courier New"/>
              </a:rPr>
              <a:t>DTI = (Monthly Debt / Income) × 100</a:t>
            </a:r>
            <a:endParaRPr b="0" lang="en-US" sz="1100" strike="noStrike" u="none">
              <a:solidFill>
                <a:srgbClr val="000000"/>
              </a:solidFill>
              <a:effectLst/>
              <a:uFillTx/>
              <a:latin typeface="Arial"/>
            </a:endParaRPr>
          </a:p>
        </p:txBody>
      </p:sp>
      <p:sp>
        <p:nvSpPr>
          <p:cNvPr id="144" name="Shape 17"/>
          <p:cNvSpPr/>
          <p:nvPr/>
        </p:nvSpPr>
        <p:spPr>
          <a:xfrm>
            <a:off x="3749040" y="3840480"/>
            <a:ext cx="5120280" cy="868320"/>
          </a:xfrm>
          <a:prstGeom prst="rect">
            <a:avLst/>
          </a:prstGeom>
          <a:solidFill>
            <a:srgbClr val="f0f4f8"/>
          </a:solidFill>
          <a:ln w="0">
            <a:noFill/>
          </a:ln>
          <a:effectLst>
            <a:outerShdw algn="bl" blurRad="101520" dir="8100000" dist="37674"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45" name="Shape 18"/>
          <p:cNvSpPr/>
          <p:nvPr/>
        </p:nvSpPr>
        <p:spPr>
          <a:xfrm>
            <a:off x="3749040" y="3840480"/>
            <a:ext cx="63720" cy="868320"/>
          </a:xfrm>
          <a:prstGeom prst="rect">
            <a:avLst/>
          </a:prstGeom>
          <a:solidFill>
            <a:srgbClr val="1f4e79"/>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46" name="Text 19"/>
          <p:cNvSpPr/>
          <p:nvPr/>
        </p:nvSpPr>
        <p:spPr>
          <a:xfrm>
            <a:off x="3931920" y="3886200"/>
            <a:ext cx="475452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trike="noStrike" u="none">
                <a:solidFill>
                  <a:srgbClr val="0d1b2a"/>
                </a:solidFill>
                <a:effectLst/>
                <a:uFillTx/>
                <a:latin typeface="Calibri"/>
                <a:ea typeface="Calibri"/>
              </a:rPr>
              <a:t>Financial Health Score</a:t>
            </a:r>
            <a:endParaRPr b="0" lang="en-US" sz="1200" strike="noStrike" u="none">
              <a:solidFill>
                <a:srgbClr val="000000"/>
              </a:solidFill>
              <a:effectLst/>
              <a:uFillTx/>
              <a:latin typeface="Arial"/>
            </a:endParaRPr>
          </a:p>
        </p:txBody>
      </p:sp>
      <p:sp>
        <p:nvSpPr>
          <p:cNvPr id="147" name="Text 20"/>
          <p:cNvSpPr/>
          <p:nvPr/>
        </p:nvSpPr>
        <p:spPr>
          <a:xfrm>
            <a:off x="3931920" y="4224600"/>
            <a:ext cx="475452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100" strike="noStrike" u="none">
                <a:solidFill>
                  <a:srgbClr val="7f8c8d"/>
                </a:solidFill>
                <a:effectLst/>
                <a:uFillTx/>
                <a:latin typeface="Courier New"/>
                <a:ea typeface="Courier New"/>
              </a:rPr>
              <a:t>Expense + Debt + Savings + Buffer  (max 100)</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f4f8"/>
        </a:solidFill>
      </p:bgPr>
    </p:bg>
    <p:spTree>
      <p:nvGrpSpPr>
        <p:cNvPr id="1" name=""/>
        <p:cNvGrpSpPr/>
        <p:nvPr/>
      </p:nvGrpSpPr>
      <p:grpSpPr>
        <a:xfrm>
          <a:off x="0" y="0"/>
          <a:ext cx="0" cy="0"/>
          <a:chOff x="0" y="0"/>
          <a:chExt cx="0" cy="0"/>
        </a:xfrm>
      </p:grpSpPr>
      <p:sp>
        <p:nvSpPr>
          <p:cNvPr id="148" name="Shape 0"/>
          <p:cNvSpPr/>
          <p:nvPr/>
        </p:nvSpPr>
        <p:spPr>
          <a:xfrm>
            <a:off x="457200" y="274320"/>
            <a:ext cx="1462680" cy="347040"/>
          </a:xfrm>
          <a:prstGeom prst="rect">
            <a:avLst/>
          </a:prstGeom>
          <a:solidFill>
            <a:srgbClr val="2e86ab"/>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49" name="Text 1"/>
          <p:cNvSpPr/>
          <p:nvPr/>
        </p:nvSpPr>
        <p:spPr>
          <a:xfrm>
            <a:off x="457200" y="274320"/>
            <a:ext cx="146268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trike="noStrike" u="none">
                <a:solidFill>
                  <a:srgbClr val="ffffff"/>
                </a:solidFill>
                <a:effectLst/>
                <a:uFillTx/>
                <a:latin typeface="Calibri"/>
              </a:rPr>
              <a:t>UNDER THE HOOD</a:t>
            </a:r>
            <a:endParaRPr b="0" lang="en-US" sz="1000" strike="noStrike" u="none">
              <a:solidFill>
                <a:srgbClr val="000000"/>
              </a:solidFill>
              <a:effectLst/>
              <a:uFillTx/>
              <a:latin typeface="Arial"/>
            </a:endParaRPr>
          </a:p>
        </p:txBody>
      </p:sp>
      <p:sp>
        <p:nvSpPr>
          <p:cNvPr id="150" name="Text 2"/>
          <p:cNvSpPr/>
          <p:nvPr/>
        </p:nvSpPr>
        <p:spPr>
          <a:xfrm>
            <a:off x="457200" y="731520"/>
            <a:ext cx="8229240" cy="360"/>
          </a:xfrm>
          <a:prstGeom prst="rect">
            <a:avLst/>
          </a:prstGeom>
          <a:noFill/>
          <a:ln w="0">
            <a:noFill/>
          </a:ln>
        </p:spPr>
        <p:style>
          <a:lnRef idx="0"/>
          <a:fillRef idx="0"/>
          <a:effectRef idx="0"/>
          <a:fontRef idx="minor"/>
        </p:style>
        <p:txBody>
          <a:bodyPr lIns="90000" rIns="90000" tIns="-44280" bIns="-44280" anchor="ctr">
            <a:noAutofit/>
          </a:bodyPr>
          <a:p>
            <a:pPr defTabSz="914400">
              <a:lnSpc>
                <a:spcPct val="100000"/>
              </a:lnSpc>
              <a:tabLst>
                <a:tab algn="l" pos="0"/>
              </a:tabLst>
            </a:pPr>
            <a:r>
              <a:rPr b="1" lang="en-US" sz="2800" strike="noStrike" u="none">
                <a:solidFill>
                  <a:srgbClr val="0d1b2a"/>
                </a:solidFill>
                <a:effectLst/>
                <a:uFillTx/>
                <a:latin typeface="Calibri"/>
                <a:ea typeface="Calibri"/>
              </a:rPr>
              <a:t>Built lean. Deployed in minutes.</a:t>
            </a:r>
            <a:endParaRPr b="0" lang="en-US" sz="2800" strike="noStrike" u="none">
              <a:solidFill>
                <a:srgbClr val="000000"/>
              </a:solidFill>
              <a:effectLst/>
              <a:uFillTx/>
              <a:latin typeface="Arial"/>
            </a:endParaRPr>
          </a:p>
        </p:txBody>
      </p:sp>
      <p:sp>
        <p:nvSpPr>
          <p:cNvPr id="151" name="Shape 3"/>
          <p:cNvSpPr/>
          <p:nvPr/>
        </p:nvSpPr>
        <p:spPr>
          <a:xfrm>
            <a:off x="457200" y="1417320"/>
            <a:ext cx="2651400" cy="731160"/>
          </a:xfrm>
          <a:prstGeom prst="rect">
            <a:avLst/>
          </a:prstGeom>
          <a:solidFill>
            <a:srgbClr val="ffffff"/>
          </a:solidFill>
          <a:ln w="0">
            <a:noFill/>
          </a:ln>
          <a:effectLst>
            <a:outerShdw algn="bl" blurRad="101520" dir="8100000" dist="37674"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52" name="Shape 4"/>
          <p:cNvSpPr/>
          <p:nvPr/>
        </p:nvSpPr>
        <p:spPr>
          <a:xfrm>
            <a:off x="457200" y="1417320"/>
            <a:ext cx="54360" cy="731160"/>
          </a:xfrm>
          <a:prstGeom prst="rect">
            <a:avLst/>
          </a:prstGeom>
          <a:solidFill>
            <a:srgbClr val="1f4e79"/>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53" name="Text 5"/>
          <p:cNvSpPr/>
          <p:nvPr/>
        </p:nvSpPr>
        <p:spPr>
          <a:xfrm>
            <a:off x="621720" y="1472040"/>
            <a:ext cx="228564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trike="noStrike" u="none">
                <a:solidFill>
                  <a:srgbClr val="0d1b2a"/>
                </a:solidFill>
                <a:effectLst/>
                <a:uFillTx/>
                <a:latin typeface="Calibri"/>
                <a:ea typeface="Calibri"/>
              </a:rPr>
              <a:t>Python</a:t>
            </a:r>
            <a:endParaRPr b="0" lang="en-US" sz="1300" strike="noStrike" u="none">
              <a:solidFill>
                <a:srgbClr val="000000"/>
              </a:solidFill>
              <a:effectLst/>
              <a:uFillTx/>
              <a:latin typeface="Arial"/>
            </a:endParaRPr>
          </a:p>
        </p:txBody>
      </p:sp>
      <p:sp>
        <p:nvSpPr>
          <p:cNvPr id="154" name="Text 6"/>
          <p:cNvSpPr/>
          <p:nvPr/>
        </p:nvSpPr>
        <p:spPr>
          <a:xfrm>
            <a:off x="621720" y="1801440"/>
            <a:ext cx="2285640" cy="255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7f8c8d"/>
                </a:solidFill>
                <a:effectLst/>
                <a:uFillTx/>
                <a:latin typeface="Calibri"/>
                <a:ea typeface="Calibri"/>
              </a:rPr>
              <a:t>Core language</a:t>
            </a:r>
            <a:endParaRPr b="0" lang="en-US" sz="1100" strike="noStrike" u="none">
              <a:solidFill>
                <a:srgbClr val="000000"/>
              </a:solidFill>
              <a:effectLst/>
              <a:uFillTx/>
              <a:latin typeface="Arial"/>
            </a:endParaRPr>
          </a:p>
        </p:txBody>
      </p:sp>
      <p:sp>
        <p:nvSpPr>
          <p:cNvPr id="155" name="Shape 7"/>
          <p:cNvSpPr/>
          <p:nvPr/>
        </p:nvSpPr>
        <p:spPr>
          <a:xfrm>
            <a:off x="3291840" y="1417320"/>
            <a:ext cx="2651400" cy="731160"/>
          </a:xfrm>
          <a:prstGeom prst="rect">
            <a:avLst/>
          </a:prstGeom>
          <a:solidFill>
            <a:srgbClr val="ffffff"/>
          </a:solidFill>
          <a:ln w="0">
            <a:noFill/>
          </a:ln>
          <a:effectLst>
            <a:outerShdw algn="bl" blurRad="101520" dir="8100000" dist="37674"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56" name="Shape 8"/>
          <p:cNvSpPr/>
          <p:nvPr/>
        </p:nvSpPr>
        <p:spPr>
          <a:xfrm>
            <a:off x="3291840" y="1417320"/>
            <a:ext cx="54360" cy="731160"/>
          </a:xfrm>
          <a:prstGeom prst="rect">
            <a:avLst/>
          </a:prstGeom>
          <a:solidFill>
            <a:srgbClr val="27ae60"/>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57" name="Text 9"/>
          <p:cNvSpPr/>
          <p:nvPr/>
        </p:nvSpPr>
        <p:spPr>
          <a:xfrm>
            <a:off x="3456360" y="1472040"/>
            <a:ext cx="228564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trike="noStrike" u="none">
                <a:solidFill>
                  <a:srgbClr val="0d1b2a"/>
                </a:solidFill>
                <a:effectLst/>
                <a:uFillTx/>
                <a:latin typeface="Calibri"/>
                <a:ea typeface="Calibri"/>
              </a:rPr>
              <a:t>Streamlit</a:t>
            </a:r>
            <a:endParaRPr b="0" lang="en-US" sz="1300" strike="noStrike" u="none">
              <a:solidFill>
                <a:srgbClr val="000000"/>
              </a:solidFill>
              <a:effectLst/>
              <a:uFillTx/>
              <a:latin typeface="Arial"/>
            </a:endParaRPr>
          </a:p>
        </p:txBody>
      </p:sp>
      <p:sp>
        <p:nvSpPr>
          <p:cNvPr id="158" name="Text 10"/>
          <p:cNvSpPr/>
          <p:nvPr/>
        </p:nvSpPr>
        <p:spPr>
          <a:xfrm>
            <a:off x="3456360" y="1801440"/>
            <a:ext cx="2285640" cy="255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7f8c8d"/>
                </a:solidFill>
                <a:effectLst/>
                <a:uFillTx/>
                <a:latin typeface="Calibri"/>
                <a:ea typeface="Calibri"/>
              </a:rPr>
              <a:t>Web app framework</a:t>
            </a:r>
            <a:endParaRPr b="0" lang="en-US" sz="1100" strike="noStrike" u="none">
              <a:solidFill>
                <a:srgbClr val="000000"/>
              </a:solidFill>
              <a:effectLst/>
              <a:uFillTx/>
              <a:latin typeface="Arial"/>
            </a:endParaRPr>
          </a:p>
        </p:txBody>
      </p:sp>
      <p:sp>
        <p:nvSpPr>
          <p:cNvPr id="159" name="Shape 11"/>
          <p:cNvSpPr/>
          <p:nvPr/>
        </p:nvSpPr>
        <p:spPr>
          <a:xfrm>
            <a:off x="6126480" y="1417320"/>
            <a:ext cx="2651400" cy="731160"/>
          </a:xfrm>
          <a:prstGeom prst="rect">
            <a:avLst/>
          </a:prstGeom>
          <a:solidFill>
            <a:srgbClr val="ffffff"/>
          </a:solidFill>
          <a:ln w="0">
            <a:noFill/>
          </a:ln>
          <a:effectLst>
            <a:outerShdw algn="bl" blurRad="101520" dir="8100000" dist="37674"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60" name="Shape 12"/>
          <p:cNvSpPr/>
          <p:nvPr/>
        </p:nvSpPr>
        <p:spPr>
          <a:xfrm>
            <a:off x="6126480" y="1417320"/>
            <a:ext cx="54360" cy="731160"/>
          </a:xfrm>
          <a:prstGeom prst="rect">
            <a:avLst/>
          </a:prstGeom>
          <a:solidFill>
            <a:srgbClr val="2e86ab"/>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61" name="Text 13"/>
          <p:cNvSpPr/>
          <p:nvPr/>
        </p:nvSpPr>
        <p:spPr>
          <a:xfrm>
            <a:off x="6291000" y="1472040"/>
            <a:ext cx="228564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trike="noStrike" u="none">
                <a:solidFill>
                  <a:srgbClr val="0d1b2a"/>
                </a:solidFill>
                <a:effectLst/>
                <a:uFillTx/>
                <a:latin typeface="Calibri"/>
                <a:ea typeface="Calibri"/>
              </a:rPr>
              <a:t>Plotly</a:t>
            </a:r>
            <a:endParaRPr b="0" lang="en-US" sz="1300" strike="noStrike" u="none">
              <a:solidFill>
                <a:srgbClr val="000000"/>
              </a:solidFill>
              <a:effectLst/>
              <a:uFillTx/>
              <a:latin typeface="Arial"/>
            </a:endParaRPr>
          </a:p>
        </p:txBody>
      </p:sp>
      <p:sp>
        <p:nvSpPr>
          <p:cNvPr id="162" name="Text 14"/>
          <p:cNvSpPr/>
          <p:nvPr/>
        </p:nvSpPr>
        <p:spPr>
          <a:xfrm>
            <a:off x="6291000" y="1801440"/>
            <a:ext cx="2285640" cy="255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7f8c8d"/>
                </a:solidFill>
                <a:effectLst/>
                <a:uFillTx/>
                <a:latin typeface="Calibri"/>
                <a:ea typeface="Calibri"/>
              </a:rPr>
              <a:t>Interactive charts</a:t>
            </a:r>
            <a:endParaRPr b="0" lang="en-US" sz="1100" strike="noStrike" u="none">
              <a:solidFill>
                <a:srgbClr val="000000"/>
              </a:solidFill>
              <a:effectLst/>
              <a:uFillTx/>
              <a:latin typeface="Arial"/>
            </a:endParaRPr>
          </a:p>
        </p:txBody>
      </p:sp>
      <p:sp>
        <p:nvSpPr>
          <p:cNvPr id="163" name="Shape 15"/>
          <p:cNvSpPr/>
          <p:nvPr/>
        </p:nvSpPr>
        <p:spPr>
          <a:xfrm>
            <a:off x="457200" y="2331720"/>
            <a:ext cx="2651400" cy="731160"/>
          </a:xfrm>
          <a:prstGeom prst="rect">
            <a:avLst/>
          </a:prstGeom>
          <a:solidFill>
            <a:srgbClr val="ffffff"/>
          </a:solidFill>
          <a:ln w="0">
            <a:noFill/>
          </a:ln>
          <a:effectLst>
            <a:outerShdw algn="bl" blurRad="101520" dir="8100000" dist="37674"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64" name="Shape 16"/>
          <p:cNvSpPr/>
          <p:nvPr/>
        </p:nvSpPr>
        <p:spPr>
          <a:xfrm>
            <a:off x="457200" y="2331720"/>
            <a:ext cx="54360" cy="731160"/>
          </a:xfrm>
          <a:prstGeom prst="rect">
            <a:avLst/>
          </a:prstGeom>
          <a:solidFill>
            <a:srgbClr val="f39c12"/>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65" name="Text 17"/>
          <p:cNvSpPr/>
          <p:nvPr/>
        </p:nvSpPr>
        <p:spPr>
          <a:xfrm>
            <a:off x="621720" y="2386440"/>
            <a:ext cx="228564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trike="noStrike" u="none">
                <a:solidFill>
                  <a:srgbClr val="0d1b2a"/>
                </a:solidFill>
                <a:effectLst/>
                <a:uFillTx/>
                <a:latin typeface="Calibri"/>
                <a:ea typeface="Calibri"/>
              </a:rPr>
              <a:t>Pandas + NumPy</a:t>
            </a:r>
            <a:endParaRPr b="0" lang="en-US" sz="1300" strike="noStrike" u="none">
              <a:solidFill>
                <a:srgbClr val="000000"/>
              </a:solidFill>
              <a:effectLst/>
              <a:uFillTx/>
              <a:latin typeface="Arial"/>
            </a:endParaRPr>
          </a:p>
        </p:txBody>
      </p:sp>
      <p:sp>
        <p:nvSpPr>
          <p:cNvPr id="166" name="Text 18"/>
          <p:cNvSpPr/>
          <p:nvPr/>
        </p:nvSpPr>
        <p:spPr>
          <a:xfrm>
            <a:off x="621720" y="2715840"/>
            <a:ext cx="2285640" cy="255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7f8c8d"/>
                </a:solidFill>
                <a:effectLst/>
                <a:uFillTx/>
                <a:latin typeface="Calibri"/>
                <a:ea typeface="Calibri"/>
              </a:rPr>
              <a:t>Data &amp; math libraries</a:t>
            </a:r>
            <a:endParaRPr b="0" lang="en-US" sz="1100" strike="noStrike" u="none">
              <a:solidFill>
                <a:srgbClr val="000000"/>
              </a:solidFill>
              <a:effectLst/>
              <a:uFillTx/>
              <a:latin typeface="Arial"/>
            </a:endParaRPr>
          </a:p>
        </p:txBody>
      </p:sp>
      <p:sp>
        <p:nvSpPr>
          <p:cNvPr id="167" name="Shape 19"/>
          <p:cNvSpPr/>
          <p:nvPr/>
        </p:nvSpPr>
        <p:spPr>
          <a:xfrm>
            <a:off x="3291840" y="2331720"/>
            <a:ext cx="2651400" cy="731160"/>
          </a:xfrm>
          <a:prstGeom prst="rect">
            <a:avLst/>
          </a:prstGeom>
          <a:solidFill>
            <a:srgbClr val="ffffff"/>
          </a:solidFill>
          <a:ln w="0">
            <a:noFill/>
          </a:ln>
          <a:effectLst>
            <a:outerShdw algn="bl" blurRad="101520" dir="8100000" dist="37674"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68" name="Shape 20"/>
          <p:cNvSpPr/>
          <p:nvPr/>
        </p:nvSpPr>
        <p:spPr>
          <a:xfrm>
            <a:off x="3291840" y="2331720"/>
            <a:ext cx="54360" cy="731160"/>
          </a:xfrm>
          <a:prstGeom prst="rect">
            <a:avLst/>
          </a:prstGeom>
          <a:solidFill>
            <a:srgbClr val="1f4e79"/>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69" name="Text 21"/>
          <p:cNvSpPr/>
          <p:nvPr/>
        </p:nvSpPr>
        <p:spPr>
          <a:xfrm>
            <a:off x="3456360" y="2386440"/>
            <a:ext cx="228564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trike="noStrike" u="none">
                <a:solidFill>
                  <a:srgbClr val="0d1b2a"/>
                </a:solidFill>
                <a:effectLst/>
                <a:uFillTx/>
                <a:latin typeface="Calibri"/>
                <a:ea typeface="Calibri"/>
              </a:rPr>
              <a:t>Streamlit Cloud</a:t>
            </a:r>
            <a:endParaRPr b="0" lang="en-US" sz="1300" strike="noStrike" u="none">
              <a:solidFill>
                <a:srgbClr val="000000"/>
              </a:solidFill>
              <a:effectLst/>
              <a:uFillTx/>
              <a:latin typeface="Arial"/>
            </a:endParaRPr>
          </a:p>
        </p:txBody>
      </p:sp>
      <p:sp>
        <p:nvSpPr>
          <p:cNvPr id="170" name="Text 22"/>
          <p:cNvSpPr/>
          <p:nvPr/>
        </p:nvSpPr>
        <p:spPr>
          <a:xfrm>
            <a:off x="3456360" y="2715840"/>
            <a:ext cx="2285640" cy="255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7f8c8d"/>
                </a:solidFill>
                <a:effectLst/>
                <a:uFillTx/>
                <a:latin typeface="Calibri"/>
                <a:ea typeface="Calibri"/>
              </a:rPr>
              <a:t>Free public deployment</a:t>
            </a:r>
            <a:endParaRPr b="0" lang="en-US" sz="1100" strike="noStrike" u="none">
              <a:solidFill>
                <a:srgbClr val="000000"/>
              </a:solidFill>
              <a:effectLst/>
              <a:uFillTx/>
              <a:latin typeface="Arial"/>
            </a:endParaRPr>
          </a:p>
        </p:txBody>
      </p:sp>
      <p:sp>
        <p:nvSpPr>
          <p:cNvPr id="171" name="Shape 23"/>
          <p:cNvSpPr/>
          <p:nvPr/>
        </p:nvSpPr>
        <p:spPr>
          <a:xfrm>
            <a:off x="6126480" y="2331720"/>
            <a:ext cx="2651400" cy="731160"/>
          </a:xfrm>
          <a:prstGeom prst="rect">
            <a:avLst/>
          </a:prstGeom>
          <a:solidFill>
            <a:srgbClr val="ffffff"/>
          </a:solidFill>
          <a:ln w="0">
            <a:noFill/>
          </a:ln>
          <a:effectLst>
            <a:outerShdw algn="bl" blurRad="101520" dir="8100000" dist="37674"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72" name="Shape 24"/>
          <p:cNvSpPr/>
          <p:nvPr/>
        </p:nvSpPr>
        <p:spPr>
          <a:xfrm>
            <a:off x="6126480" y="2331720"/>
            <a:ext cx="54360" cy="731160"/>
          </a:xfrm>
          <a:prstGeom prst="rect">
            <a:avLst/>
          </a:prstGeom>
          <a:solidFill>
            <a:srgbClr val="2c3e50"/>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73" name="Text 25"/>
          <p:cNvSpPr/>
          <p:nvPr/>
        </p:nvSpPr>
        <p:spPr>
          <a:xfrm>
            <a:off x="6291000" y="2386440"/>
            <a:ext cx="228564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trike="noStrike" u="none">
                <a:solidFill>
                  <a:srgbClr val="0d1b2a"/>
                </a:solidFill>
                <a:effectLst/>
                <a:uFillTx/>
                <a:latin typeface="Calibri"/>
                <a:ea typeface="Calibri"/>
              </a:rPr>
              <a:t>GitHub</a:t>
            </a:r>
            <a:endParaRPr b="0" lang="en-US" sz="1300" strike="noStrike" u="none">
              <a:solidFill>
                <a:srgbClr val="000000"/>
              </a:solidFill>
              <a:effectLst/>
              <a:uFillTx/>
              <a:latin typeface="Arial"/>
            </a:endParaRPr>
          </a:p>
        </p:txBody>
      </p:sp>
      <p:sp>
        <p:nvSpPr>
          <p:cNvPr id="174" name="Text 26"/>
          <p:cNvSpPr/>
          <p:nvPr/>
        </p:nvSpPr>
        <p:spPr>
          <a:xfrm>
            <a:off x="6291000" y="2715840"/>
            <a:ext cx="2285640" cy="255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7f8c8d"/>
                </a:solidFill>
                <a:effectLst/>
                <a:uFillTx/>
                <a:latin typeface="Calibri"/>
                <a:ea typeface="Calibri"/>
              </a:rPr>
              <a:t>Version control + CI</a:t>
            </a:r>
            <a:endParaRPr b="0" lang="en-US" sz="1100" strike="noStrike" u="none">
              <a:solidFill>
                <a:srgbClr val="000000"/>
              </a:solidFill>
              <a:effectLst/>
              <a:uFillTx/>
              <a:latin typeface="Arial"/>
            </a:endParaRPr>
          </a:p>
        </p:txBody>
      </p:sp>
      <p:sp>
        <p:nvSpPr>
          <p:cNvPr id="175" name="Shape 27"/>
          <p:cNvSpPr/>
          <p:nvPr/>
        </p:nvSpPr>
        <p:spPr>
          <a:xfrm>
            <a:off x="457200" y="3383280"/>
            <a:ext cx="8229240" cy="1508400"/>
          </a:xfrm>
          <a:prstGeom prst="rect">
            <a:avLst/>
          </a:prstGeom>
          <a:solidFill>
            <a:srgbClr val="0d1b2a"/>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76" name="Text 28"/>
          <p:cNvSpPr/>
          <p:nvPr/>
        </p:nvSpPr>
        <p:spPr>
          <a:xfrm>
            <a:off x="640080" y="3493080"/>
            <a:ext cx="777204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00" strike="noStrike" u="none">
                <a:solidFill>
                  <a:srgbClr val="27ae60"/>
                </a:solidFill>
                <a:effectLst/>
                <a:uFillTx/>
                <a:latin typeface="Calibri"/>
                <a:ea typeface="Calibri"/>
              </a:rPr>
              <a:t>🔒  Zero-Knowledge Architecture</a:t>
            </a:r>
            <a:endParaRPr b="0" lang="en-US" sz="1500" strike="noStrike" u="none">
              <a:solidFill>
                <a:srgbClr val="000000"/>
              </a:solidFill>
              <a:effectLst/>
              <a:uFillTx/>
              <a:latin typeface="Arial"/>
            </a:endParaRPr>
          </a:p>
        </p:txBody>
      </p:sp>
      <p:sp>
        <p:nvSpPr>
          <p:cNvPr id="177" name="Text 29"/>
          <p:cNvSpPr/>
          <p:nvPr/>
        </p:nvSpPr>
        <p:spPr>
          <a:xfrm>
            <a:off x="731520" y="3931920"/>
            <a:ext cx="749772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bdc3c7"/>
                </a:solidFill>
                <a:effectLst/>
                <a:uFillTx/>
                <a:latin typeface="Calibri"/>
                <a:ea typeface="Calibri"/>
              </a:rPr>
              <a:t>✓  No database — all data lives in browser session state only</a:t>
            </a:r>
            <a:endParaRPr b="0" lang="en-US" sz="1100" strike="noStrike" u="none">
              <a:solidFill>
                <a:srgbClr val="000000"/>
              </a:solidFill>
              <a:effectLst/>
              <a:uFillTx/>
              <a:latin typeface="Arial"/>
            </a:endParaRPr>
          </a:p>
        </p:txBody>
      </p:sp>
      <p:sp>
        <p:nvSpPr>
          <p:cNvPr id="178" name="Text 30"/>
          <p:cNvSpPr/>
          <p:nvPr/>
        </p:nvSpPr>
        <p:spPr>
          <a:xfrm>
            <a:off x="731520" y="4151520"/>
            <a:ext cx="749772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bdc3c7"/>
                </a:solidFill>
                <a:effectLst/>
                <a:uFillTx/>
                <a:latin typeface="Calibri"/>
                <a:ea typeface="Calibri"/>
              </a:rPr>
              <a:t>✓  No external API calls — calculations run 100% locally</a:t>
            </a:r>
            <a:endParaRPr b="0" lang="en-US" sz="1100" strike="noStrike" u="none">
              <a:solidFill>
                <a:srgbClr val="000000"/>
              </a:solidFill>
              <a:effectLst/>
              <a:uFillTx/>
              <a:latin typeface="Arial"/>
            </a:endParaRPr>
          </a:p>
        </p:txBody>
      </p:sp>
      <p:sp>
        <p:nvSpPr>
          <p:cNvPr id="179" name="Text 31"/>
          <p:cNvSpPr/>
          <p:nvPr/>
        </p:nvSpPr>
        <p:spPr>
          <a:xfrm>
            <a:off x="731520" y="4370760"/>
            <a:ext cx="749772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bdc3c7"/>
                </a:solidFill>
                <a:effectLst/>
                <a:uFillTx/>
                <a:latin typeface="Calibri"/>
                <a:ea typeface="Calibri"/>
              </a:rPr>
              <a:t>✓  No user accounts — zero authentication attack surface</a:t>
            </a:r>
            <a:endParaRPr b="0" lang="en-US" sz="1100" strike="noStrike" u="none">
              <a:solidFill>
                <a:srgbClr val="000000"/>
              </a:solidFill>
              <a:effectLst/>
              <a:uFillTx/>
              <a:latin typeface="Arial"/>
            </a:endParaRPr>
          </a:p>
        </p:txBody>
      </p:sp>
      <p:sp>
        <p:nvSpPr>
          <p:cNvPr id="180" name="Text 32"/>
          <p:cNvSpPr/>
          <p:nvPr/>
        </p:nvSpPr>
        <p:spPr>
          <a:xfrm>
            <a:off x="731520" y="4590360"/>
            <a:ext cx="749772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bdc3c7"/>
                </a:solidFill>
                <a:effectLst/>
                <a:uFillTx/>
                <a:latin typeface="Calibri"/>
                <a:ea typeface="Calibri"/>
              </a:rPr>
              <a:t>✓  No HTML injection — pure Streamlit components throughout</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181" name="Shape 0"/>
          <p:cNvSpPr/>
          <p:nvPr/>
        </p:nvSpPr>
        <p:spPr>
          <a:xfrm>
            <a:off x="0" y="0"/>
            <a:ext cx="164160" cy="5143320"/>
          </a:xfrm>
          <a:prstGeom prst="rect">
            <a:avLst/>
          </a:prstGeom>
          <a:solidFill>
            <a:srgbClr val="27ae60"/>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82" name="Shape 1"/>
          <p:cNvSpPr/>
          <p:nvPr/>
        </p:nvSpPr>
        <p:spPr>
          <a:xfrm>
            <a:off x="8979480" y="0"/>
            <a:ext cx="164160" cy="5143320"/>
          </a:xfrm>
          <a:prstGeom prst="rect">
            <a:avLst/>
          </a:prstGeom>
          <a:solidFill>
            <a:srgbClr val="f39c12"/>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83" name="Text 2"/>
          <p:cNvSpPr/>
          <p:nvPr/>
        </p:nvSpPr>
        <p:spPr>
          <a:xfrm>
            <a:off x="457200" y="640080"/>
            <a:ext cx="8229240" cy="360"/>
          </a:xfrm>
          <a:prstGeom prst="rect">
            <a:avLst/>
          </a:prstGeom>
          <a:noFill/>
          <a:ln w="0">
            <a:noFill/>
          </a:ln>
        </p:spPr>
        <p:style>
          <a:lnRef idx="0"/>
          <a:fillRef idx="0"/>
          <a:effectRef idx="0"/>
          <a:fontRef idx="minor"/>
        </p:style>
        <p:txBody>
          <a:bodyPr lIns="90000" rIns="90000" tIns="-44280" bIns="-44280" anchor="ctr">
            <a:noAutofit/>
          </a:bodyPr>
          <a:p>
            <a:pPr algn="ctr" defTabSz="914400">
              <a:lnSpc>
                <a:spcPct val="100000"/>
              </a:lnSpc>
              <a:tabLst>
                <a:tab algn="l" pos="0"/>
              </a:tabLst>
            </a:pPr>
            <a:r>
              <a:rPr b="1" lang="en-US" sz="4400" strike="noStrike" u="none">
                <a:solidFill>
                  <a:srgbClr val="ffffff"/>
                </a:solidFill>
                <a:effectLst/>
                <a:uFillTx/>
                <a:latin typeface="Calibri"/>
                <a:ea typeface="Calibri"/>
              </a:rPr>
              <a:t>From Numbers</a:t>
            </a:r>
            <a:endParaRPr b="0" lang="en-US" sz="4400" strike="noStrike" u="none">
              <a:solidFill>
                <a:srgbClr val="ffffff"/>
              </a:solidFill>
              <a:effectLst/>
              <a:uFillTx/>
              <a:latin typeface="Arial"/>
            </a:endParaRPr>
          </a:p>
        </p:txBody>
      </p:sp>
      <p:sp>
        <p:nvSpPr>
          <p:cNvPr id="184" name="Text 3"/>
          <p:cNvSpPr/>
          <p:nvPr/>
        </p:nvSpPr>
        <p:spPr>
          <a:xfrm>
            <a:off x="457200" y="1325880"/>
            <a:ext cx="8229240" cy="360"/>
          </a:xfrm>
          <a:prstGeom prst="rect">
            <a:avLst/>
          </a:prstGeom>
          <a:noFill/>
          <a:ln w="0">
            <a:noFill/>
          </a:ln>
        </p:spPr>
        <p:style>
          <a:lnRef idx="0"/>
          <a:fillRef idx="0"/>
          <a:effectRef idx="0"/>
          <a:fontRef idx="minor"/>
        </p:style>
        <p:txBody>
          <a:bodyPr lIns="90000" rIns="90000" tIns="-44280" bIns="-44280" anchor="ctr">
            <a:noAutofit/>
          </a:bodyPr>
          <a:p>
            <a:pPr algn="ctr" defTabSz="914400">
              <a:lnSpc>
                <a:spcPct val="100000"/>
              </a:lnSpc>
              <a:tabLst>
                <a:tab algn="l" pos="0"/>
              </a:tabLst>
            </a:pPr>
            <a:r>
              <a:rPr b="1" lang="en-US" sz="4400" strike="noStrike" u="none">
                <a:solidFill>
                  <a:srgbClr val="27ae60"/>
                </a:solidFill>
                <a:effectLst/>
                <a:uFillTx/>
                <a:latin typeface="Calibri"/>
                <a:ea typeface="Calibri"/>
              </a:rPr>
              <a:t>to a Plan.</a:t>
            </a:r>
            <a:endParaRPr b="0" lang="en-US" sz="4400" strike="noStrike" u="none">
              <a:solidFill>
                <a:srgbClr val="ffffff"/>
              </a:solidFill>
              <a:effectLst/>
              <a:uFillTx/>
              <a:latin typeface="Arial"/>
            </a:endParaRPr>
          </a:p>
        </p:txBody>
      </p:sp>
      <p:sp>
        <p:nvSpPr>
          <p:cNvPr id="185" name="Shape 4"/>
          <p:cNvSpPr/>
          <p:nvPr/>
        </p:nvSpPr>
        <p:spPr>
          <a:xfrm>
            <a:off x="2286000" y="2103120"/>
            <a:ext cx="4572000" cy="360"/>
          </a:xfrm>
          <a:prstGeom prst="line">
            <a:avLst/>
          </a:prstGeom>
          <a:ln w="19050">
            <a:solidFill>
              <a:srgbClr val="2e86ab"/>
            </a:solidFill>
            <a:round/>
          </a:ln>
        </p:spPr>
        <p:style>
          <a:lnRef idx="0"/>
          <a:fillRef idx="0"/>
          <a:effectRef idx="0"/>
          <a:fontRef idx="minor"/>
        </p:style>
        <p:txBody>
          <a:bodyPr lIns="90000" rIns="90000" tIns="-44640" bIns="-44640" anchor="t" anchorCtr="1">
            <a:noAutofit/>
          </a:bodyPr>
          <a:p>
            <a:endParaRPr b="0" lang="en-US" sz="1800" strike="noStrike" u="none">
              <a:solidFill>
                <a:srgbClr val="ffffff"/>
              </a:solidFill>
              <a:effectLst/>
              <a:uFillTx/>
              <a:latin typeface="Arial"/>
            </a:endParaRPr>
          </a:p>
        </p:txBody>
      </p:sp>
      <p:sp>
        <p:nvSpPr>
          <p:cNvPr id="186" name="Text 5"/>
          <p:cNvSpPr/>
          <p:nvPr/>
        </p:nvSpPr>
        <p:spPr>
          <a:xfrm>
            <a:off x="1188720" y="2331720"/>
            <a:ext cx="2194200" cy="8226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4000" strike="noStrike" u="none">
                <a:solidFill>
                  <a:srgbClr val="f39c12"/>
                </a:solidFill>
                <a:effectLst/>
                <a:uFillTx/>
                <a:latin typeface="Calibri"/>
                <a:ea typeface="Calibri"/>
              </a:rPr>
              <a:t>3</a:t>
            </a:r>
            <a:endParaRPr b="0" lang="en-US" sz="4000" strike="noStrike" u="none">
              <a:solidFill>
                <a:srgbClr val="ffffff"/>
              </a:solidFill>
              <a:effectLst/>
              <a:uFillTx/>
              <a:latin typeface="Arial"/>
            </a:endParaRPr>
          </a:p>
        </p:txBody>
      </p:sp>
      <p:sp>
        <p:nvSpPr>
          <p:cNvPr id="187" name="Text 6"/>
          <p:cNvSpPr/>
          <p:nvPr/>
        </p:nvSpPr>
        <p:spPr>
          <a:xfrm>
            <a:off x="1188720" y="3154680"/>
            <a:ext cx="2194200" cy="365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300" strike="noStrike" u="none">
                <a:solidFill>
                  <a:srgbClr val="95a5a6"/>
                </a:solidFill>
                <a:effectLst/>
                <a:uFillTx/>
                <a:latin typeface="Calibri"/>
                <a:ea typeface="Calibri"/>
              </a:rPr>
              <a:t>Profile Types</a:t>
            </a:r>
            <a:endParaRPr b="0" lang="en-US" sz="1300" strike="noStrike" u="none">
              <a:solidFill>
                <a:srgbClr val="ffffff"/>
              </a:solidFill>
              <a:effectLst/>
              <a:uFillTx/>
              <a:latin typeface="Arial"/>
            </a:endParaRPr>
          </a:p>
        </p:txBody>
      </p:sp>
      <p:sp>
        <p:nvSpPr>
          <p:cNvPr id="188" name="Text 7"/>
          <p:cNvSpPr/>
          <p:nvPr/>
        </p:nvSpPr>
        <p:spPr>
          <a:xfrm>
            <a:off x="3840480" y="2331720"/>
            <a:ext cx="2194200" cy="8226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4000" strike="noStrike" u="none">
                <a:solidFill>
                  <a:srgbClr val="f39c12"/>
                </a:solidFill>
                <a:effectLst/>
                <a:uFillTx/>
                <a:latin typeface="Calibri"/>
                <a:ea typeface="Calibri"/>
              </a:rPr>
              <a:t>10+</a:t>
            </a:r>
            <a:endParaRPr b="0" lang="en-US" sz="4000" strike="noStrike" u="none">
              <a:solidFill>
                <a:srgbClr val="ffffff"/>
              </a:solidFill>
              <a:effectLst/>
              <a:uFillTx/>
              <a:latin typeface="Arial"/>
            </a:endParaRPr>
          </a:p>
        </p:txBody>
      </p:sp>
      <p:sp>
        <p:nvSpPr>
          <p:cNvPr id="189" name="Text 8"/>
          <p:cNvSpPr/>
          <p:nvPr/>
        </p:nvSpPr>
        <p:spPr>
          <a:xfrm>
            <a:off x="3840480" y="3154680"/>
            <a:ext cx="2194200" cy="365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300" strike="noStrike" u="none">
                <a:solidFill>
                  <a:srgbClr val="95a5a6"/>
                </a:solidFill>
                <a:effectLst/>
                <a:uFillTx/>
                <a:latin typeface="Calibri"/>
                <a:ea typeface="Calibri"/>
              </a:rPr>
              <a:t>Chart Types</a:t>
            </a:r>
            <a:endParaRPr b="0" lang="en-US" sz="1300" strike="noStrike" u="none">
              <a:solidFill>
                <a:srgbClr val="ffffff"/>
              </a:solidFill>
              <a:effectLst/>
              <a:uFillTx/>
              <a:latin typeface="Arial"/>
            </a:endParaRPr>
          </a:p>
        </p:txBody>
      </p:sp>
      <p:sp>
        <p:nvSpPr>
          <p:cNvPr id="190" name="Text 9"/>
          <p:cNvSpPr/>
          <p:nvPr/>
        </p:nvSpPr>
        <p:spPr>
          <a:xfrm>
            <a:off x="6492240" y="2331720"/>
            <a:ext cx="2194200" cy="8226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4000" strike="noStrike" u="none">
                <a:solidFill>
                  <a:srgbClr val="f39c12"/>
                </a:solidFill>
                <a:effectLst/>
                <a:uFillTx/>
                <a:latin typeface="Calibri"/>
                <a:ea typeface="Calibri"/>
              </a:rPr>
              <a:t>100%</a:t>
            </a:r>
            <a:endParaRPr b="0" lang="en-US" sz="4000" strike="noStrike" u="none">
              <a:solidFill>
                <a:srgbClr val="ffffff"/>
              </a:solidFill>
              <a:effectLst/>
              <a:uFillTx/>
              <a:latin typeface="Arial"/>
            </a:endParaRPr>
          </a:p>
        </p:txBody>
      </p:sp>
      <p:sp>
        <p:nvSpPr>
          <p:cNvPr id="191" name="Text 10"/>
          <p:cNvSpPr/>
          <p:nvPr/>
        </p:nvSpPr>
        <p:spPr>
          <a:xfrm>
            <a:off x="6492240" y="3154680"/>
            <a:ext cx="2194200" cy="365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300" strike="noStrike" u="none">
                <a:solidFill>
                  <a:srgbClr val="95a5a6"/>
                </a:solidFill>
                <a:effectLst/>
                <a:uFillTx/>
                <a:latin typeface="Calibri"/>
                <a:ea typeface="Calibri"/>
              </a:rPr>
              <a:t>Free &amp; Private</a:t>
            </a:r>
            <a:endParaRPr b="0" lang="en-US" sz="1300" strike="noStrike" u="none">
              <a:solidFill>
                <a:srgbClr val="ffffff"/>
              </a:solidFill>
              <a:effectLst/>
              <a:uFillTx/>
              <a:latin typeface="Arial"/>
            </a:endParaRPr>
          </a:p>
        </p:txBody>
      </p:sp>
      <p:sp>
        <p:nvSpPr>
          <p:cNvPr id="192" name="Shape 11"/>
          <p:cNvSpPr/>
          <p:nvPr/>
        </p:nvSpPr>
        <p:spPr>
          <a:xfrm>
            <a:off x="2560320" y="3749040"/>
            <a:ext cx="4023000" cy="548280"/>
          </a:xfrm>
          <a:prstGeom prst="rect">
            <a:avLst/>
          </a:prstGeom>
          <a:solidFill>
            <a:srgbClr val="27ae60"/>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93" name="Text 12"/>
          <p:cNvSpPr/>
          <p:nvPr/>
        </p:nvSpPr>
        <p:spPr>
          <a:xfrm>
            <a:off x="1600200" y="3749040"/>
            <a:ext cx="5943600" cy="5943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trike="noStrike" u="none">
                <a:solidFill>
                  <a:srgbClr val="ffffff"/>
                </a:solidFill>
                <a:effectLst/>
                <a:uFillTx/>
                <a:latin typeface="Calibri"/>
              </a:rPr>
              <a:t>🌐  Try it live — [https://moneyplanner-hqi44jhgvceaunpuntfgzz.streamlit.app/]</a:t>
            </a:r>
            <a:endParaRPr b="0" lang="en-US" sz="1300" strike="noStrike" u="none">
              <a:solidFill>
                <a:srgbClr val="ffffff"/>
              </a:solidFill>
              <a:effectLst/>
              <a:uFillTx/>
              <a:latin typeface="Arial"/>
            </a:endParaRPr>
          </a:p>
        </p:txBody>
      </p:sp>
      <p:sp>
        <p:nvSpPr>
          <p:cNvPr id="194" name="Text 13"/>
          <p:cNvSpPr/>
          <p:nvPr/>
        </p:nvSpPr>
        <p:spPr>
          <a:xfrm>
            <a:off x="457200" y="4480560"/>
            <a:ext cx="8229240" cy="365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100" strike="noStrike" u="none">
                <a:solidFill>
                  <a:srgbClr val="4a6274"/>
                </a:solidFill>
                <a:effectLst/>
                <a:uFillTx/>
                <a:latin typeface="Calibri"/>
                <a:ea typeface="Calibri"/>
              </a:rPr>
              <a:t>Built with Python  •  Streamlit  •  Plotly</a:t>
            </a:r>
            <a:endParaRPr b="0" lang="en-US" sz="11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90</TotalTime>
  <Application>LibreOffice/25.2.3.2$Linux_X86_64 LibreOffice_project/520$Build-2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2026-04-18T19:09:25Z</dcterms:created>
  <dc:creator>MoneyPlanner Team</dc:creator>
  <dc:description/>
  <dc:language>en-US</dc:language>
  <cp:lastModifiedBy/>
  <dcterms:modified xsi:type="dcterms:W3CDTF">2026-04-19T02:11:06Z</dcterms:modified>
  <cp:revision>2</cp:revision>
  <dc:subject>PptxGenJS Presentation</dc:subject>
  <dc:title>MoneyPlanner</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8</vt:i4>
  </property>
  <property fmtid="{D5CDD505-2E9C-101B-9397-08002B2CF9AE}" pid="3" name="PresentationFormat">
    <vt:lpwstr>On-screen Show (16:9)</vt:lpwstr>
  </property>
  <property fmtid="{D5CDD505-2E9C-101B-9397-08002B2CF9AE}" pid="4" name="Slides">
    <vt:i4>8</vt:i4>
  </property>
</Properties>
</file>